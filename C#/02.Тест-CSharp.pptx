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75" r:id="rId12"/>
    <p:sldId id="265" r:id="rId13"/>
    <p:sldId id="274" r:id="rId14"/>
    <p:sldId id="266" r:id="rId15"/>
    <p:sldId id="273" r:id="rId16"/>
    <p:sldId id="267" r:id="rId17"/>
    <p:sldId id="272" r:id="rId18"/>
    <p:sldId id="268" r:id="rId19"/>
    <p:sldId id="271" r:id="rId20"/>
    <p:sldId id="269" r:id="rId21"/>
    <p:sldId id="270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1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2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9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1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8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9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3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1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1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F808-46B6-4397-94F3-BA859308BF0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1470B-C1C4-4BDE-B3C6-3ED73E932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7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Тест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Функционално програмиране </a:t>
            </a:r>
            <a:r>
              <a:rPr lang="en-US" dirty="0" smtClean="0"/>
              <a:t>C#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63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Какво представлява Func&lt;int, int&gt;?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Делегат без вход и без изход</a:t>
            </a:r>
            <a:endParaRPr lang="en-US" dirty="0" smtClean="0"/>
          </a:p>
          <a:p>
            <a:pPr marL="514350" indent="-514350">
              <a:buAutoNum type="alphaUcParenR"/>
            </a:pPr>
            <a:r>
              <a:rPr lang="ru-RU" dirty="0" smtClean="0"/>
              <a:t>Делегат с вход </a:t>
            </a:r>
            <a:r>
              <a:rPr lang="ru-RU" b="1" dirty="0" smtClean="0"/>
              <a:t>int</a:t>
            </a:r>
            <a:r>
              <a:rPr lang="ru-RU" dirty="0" smtClean="0"/>
              <a:t> и изход </a:t>
            </a:r>
            <a:r>
              <a:rPr lang="ru-RU" b="1" dirty="0" smtClean="0"/>
              <a:t>int</a:t>
            </a:r>
            <a:endParaRPr lang="en-US" b="1" dirty="0" smtClean="0"/>
          </a:p>
          <a:p>
            <a:pPr marL="514350" indent="-514350">
              <a:buAutoNum type="alphaUcParenR"/>
            </a:pPr>
            <a:r>
              <a:rPr lang="ru-RU" dirty="0" smtClean="0"/>
              <a:t>Делегат с два входа </a:t>
            </a:r>
            <a:r>
              <a:rPr lang="ru-RU" b="1" dirty="0" smtClean="0"/>
              <a:t>int</a:t>
            </a:r>
            <a:endParaRPr lang="en-US" b="1" dirty="0" smtClean="0"/>
          </a:p>
          <a:p>
            <a:pPr marL="514350" indent="-514350">
              <a:buAutoNum type="alphaUcParenR"/>
            </a:pPr>
            <a:r>
              <a:rPr lang="ru-RU" dirty="0" smtClean="0"/>
              <a:t>Процедура без връщана стойност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5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Какво представлява Func&lt;int, int&gt;?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Делегат без вход и без изход</a:t>
            </a:r>
            <a:endParaRPr lang="en-US" dirty="0" smtClean="0"/>
          </a:p>
          <a:p>
            <a:pPr marL="514350" indent="-514350">
              <a:buAutoNum type="alphaUcParenR"/>
            </a:pPr>
            <a:r>
              <a:rPr lang="ru-RU" dirty="0" smtClean="0">
                <a:solidFill>
                  <a:srgbClr val="FF0000"/>
                </a:solidFill>
              </a:rPr>
              <a:t>Делегат с вход </a:t>
            </a:r>
            <a:r>
              <a:rPr lang="ru-RU" b="1" dirty="0" smtClean="0">
                <a:solidFill>
                  <a:srgbClr val="FF0000"/>
                </a:solidFill>
              </a:rPr>
              <a:t>int</a:t>
            </a:r>
            <a:r>
              <a:rPr lang="ru-RU" dirty="0" smtClean="0">
                <a:solidFill>
                  <a:srgbClr val="FF0000"/>
                </a:solidFill>
              </a:rPr>
              <a:t> и изход </a:t>
            </a:r>
            <a:r>
              <a:rPr lang="ru-RU" b="1" dirty="0" smtClean="0">
                <a:solidFill>
                  <a:srgbClr val="FF0000"/>
                </a:solidFill>
              </a:rPr>
              <a:t>int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ru-RU" dirty="0" smtClean="0"/>
              <a:t>Делегат с два входа </a:t>
            </a:r>
            <a:r>
              <a:rPr lang="ru-RU" b="1" dirty="0" smtClean="0"/>
              <a:t>int</a:t>
            </a:r>
            <a:endParaRPr lang="en-US" b="1" dirty="0" smtClean="0"/>
          </a:p>
          <a:p>
            <a:pPr marL="514350" indent="-514350">
              <a:buAutoNum type="alphaUcParenR"/>
            </a:pPr>
            <a:r>
              <a:rPr lang="ru-RU" dirty="0" smtClean="0"/>
              <a:t>Процедура без връщана стойност</a:t>
            </a:r>
            <a:endParaRPr lang="en-US" dirty="0" smtClean="0"/>
          </a:p>
          <a:p>
            <a:pPr marL="514350" indent="-514350">
              <a:buAutoNum type="alphaUcParenR"/>
            </a:pPr>
            <a:endParaRPr lang="en-US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en-US" sz="2400" dirty="0" err="1" smtClean="0"/>
              <a:t>Func</a:t>
            </a:r>
            <a:r>
              <a:rPr lang="en-US" sz="2400" dirty="0" smtClean="0"/>
              <a:t>&lt;</a:t>
            </a:r>
            <a:r>
              <a:rPr lang="en-US" sz="2400" dirty="0" err="1" smtClean="0"/>
              <a:t>int,int</a:t>
            </a:r>
            <a:r>
              <a:rPr lang="en-US" sz="2400" dirty="0" smtClean="0"/>
              <a:t>&gt; </a:t>
            </a:r>
            <a:r>
              <a:rPr lang="bg-BG" sz="2400" dirty="0" smtClean="0"/>
              <a:t>приема аргумент от тип </a:t>
            </a:r>
            <a:r>
              <a:rPr lang="en-US" sz="2400" b="1" dirty="0" err="1" smtClean="0"/>
              <a:t>int</a:t>
            </a:r>
            <a:r>
              <a:rPr lang="en-US" sz="2400" dirty="0" smtClean="0"/>
              <a:t> </a:t>
            </a:r>
            <a:r>
              <a:rPr lang="bg-BG" sz="2400" dirty="0" smtClean="0"/>
              <a:t>и връща резултат от тип </a:t>
            </a:r>
            <a:r>
              <a:rPr lang="en-US" sz="2400" b="1" dirty="0" smtClean="0"/>
              <a:t>int</a:t>
            </a:r>
            <a:r>
              <a:rPr lang="en-US" sz="2400" dirty="0" smtClean="0"/>
              <a:t>. </a:t>
            </a:r>
            <a:r>
              <a:rPr lang="bg-BG" sz="2400" dirty="0" smtClean="0"/>
              <a:t>Последният параметър винаги е типът на резултата.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102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Кое от следните е вярно за Action&lt;T&gt;?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Връща стойност</a:t>
            </a:r>
          </a:p>
          <a:p>
            <a:pPr marL="514350" indent="-514350">
              <a:buAutoNum type="alphaUcParenR"/>
            </a:pPr>
            <a:r>
              <a:rPr lang="ru-RU" dirty="0" smtClean="0"/>
              <a:t>Връща bool</a:t>
            </a:r>
          </a:p>
          <a:p>
            <a:pPr marL="514350" indent="-514350">
              <a:buAutoNum type="alphaUcParenR"/>
            </a:pPr>
            <a:r>
              <a:rPr lang="ru-RU" dirty="0" smtClean="0"/>
              <a:t>Не връща стойност</a:t>
            </a:r>
          </a:p>
          <a:p>
            <a:pPr marL="514350" indent="-514350">
              <a:buAutoNum type="alphaUcParenR"/>
            </a:pPr>
            <a:r>
              <a:rPr lang="ru-RU" dirty="0" smtClean="0"/>
              <a:t>Работи само с 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8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Кое от следните е вярно за Action&lt;T&gt;?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Връща стойност</a:t>
            </a:r>
          </a:p>
          <a:p>
            <a:pPr marL="514350" indent="-514350">
              <a:buAutoNum type="alphaUcParenR"/>
            </a:pPr>
            <a:r>
              <a:rPr lang="ru-RU" dirty="0" smtClean="0"/>
              <a:t>Връща bool</a:t>
            </a:r>
          </a:p>
          <a:p>
            <a:pPr marL="514350" indent="-514350">
              <a:buAutoNum type="alphaUcParenR"/>
            </a:pPr>
            <a:r>
              <a:rPr lang="ru-RU" dirty="0" smtClean="0">
                <a:solidFill>
                  <a:srgbClr val="FF0000"/>
                </a:solidFill>
              </a:rPr>
              <a:t>Не връща стойност</a:t>
            </a:r>
          </a:p>
          <a:p>
            <a:pPr marL="514350" indent="-514350">
              <a:buAutoNum type="alphaUcParenR"/>
            </a:pPr>
            <a:r>
              <a:rPr lang="ru-RU" dirty="0" smtClean="0"/>
              <a:t>Работи само с int</a:t>
            </a:r>
            <a:endParaRPr lang="bg-BG" dirty="0"/>
          </a:p>
          <a:p>
            <a:pPr marL="514350" indent="-514350">
              <a:buAutoNum type="alphaUcParenR"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Action&lt;T&gt; не връща стойност (void). </a:t>
            </a:r>
          </a:p>
          <a:p>
            <a:pPr marL="0" indent="0">
              <a:buNone/>
            </a:pPr>
            <a:r>
              <a:rPr lang="ru-RU" dirty="0" smtClean="0"/>
              <a:t>Използва се за операции със странични ефекти.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9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3. Какъв е типът на ламбдата </a:t>
            </a:r>
            <a:r>
              <a:rPr lang="en-US" dirty="0" smtClean="0"/>
              <a:t>x =&gt; </a:t>
            </a:r>
            <a:r>
              <a:rPr lang="en-US" dirty="0" err="1" smtClean="0"/>
              <a:t>x.Length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en-US" dirty="0" err="1" smtClean="0"/>
              <a:t>Func</a:t>
            </a:r>
            <a:r>
              <a:rPr lang="en-US" dirty="0" smtClean="0"/>
              <a:t>&lt;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&gt;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err="1" smtClean="0"/>
              <a:t>Func</a:t>
            </a:r>
            <a:r>
              <a:rPr lang="en-US" dirty="0" smtClean="0"/>
              <a:t>&lt;string, </a:t>
            </a:r>
            <a:r>
              <a:rPr lang="en-US" dirty="0" err="1" smtClean="0"/>
              <a:t>int</a:t>
            </a:r>
            <a:r>
              <a:rPr lang="en-US" dirty="0" smtClean="0"/>
              <a:t>&gt;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Action&lt;string&gt;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Predicate&lt;string&gt;</a:t>
            </a:r>
            <a:endParaRPr lang="bg-BG" dirty="0" smtClean="0"/>
          </a:p>
          <a:p>
            <a:pPr marL="514350" indent="-514350">
              <a:buAutoNum type="alphaUcParenR"/>
            </a:pPr>
            <a:endParaRPr lang="bg-BG" dirty="0"/>
          </a:p>
          <a:p>
            <a:pPr marL="514350" indent="-514350">
              <a:buAutoNum type="alphaUcParenR"/>
            </a:pPr>
            <a:endParaRPr lang="bg-BG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322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3. Какъв е типът на ламбдата </a:t>
            </a:r>
            <a:r>
              <a:rPr lang="en-US" dirty="0" smtClean="0"/>
              <a:t>x =&gt; </a:t>
            </a:r>
            <a:r>
              <a:rPr lang="en-US" dirty="0" err="1" smtClean="0"/>
              <a:t>x.Length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en-US" dirty="0" err="1" smtClean="0"/>
              <a:t>Func</a:t>
            </a:r>
            <a:r>
              <a:rPr lang="en-US" dirty="0" smtClean="0"/>
              <a:t>&lt;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&gt;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err="1" smtClean="0">
                <a:solidFill>
                  <a:srgbClr val="FF0000"/>
                </a:solidFill>
              </a:rPr>
              <a:t>Func</a:t>
            </a:r>
            <a:r>
              <a:rPr lang="en-US" dirty="0" smtClean="0">
                <a:solidFill>
                  <a:srgbClr val="FF0000"/>
                </a:solidFill>
              </a:rPr>
              <a:t>&lt;string,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  <a:endParaRPr lang="bg-BG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en-US" dirty="0" smtClean="0"/>
              <a:t>Action&lt;string&gt;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Predicate&lt;string&gt;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en-US" sz="2400" dirty="0" err="1" smtClean="0"/>
              <a:t>x.Length</a:t>
            </a:r>
            <a:r>
              <a:rPr lang="en-US" sz="2400" dirty="0" smtClean="0"/>
              <a:t> </a:t>
            </a:r>
            <a:r>
              <a:rPr lang="bg-BG" sz="2400" dirty="0" smtClean="0"/>
              <a:t>връща </a:t>
            </a:r>
            <a:r>
              <a:rPr lang="en-US" sz="2400" dirty="0" err="1" smtClean="0"/>
              <a:t>int</a:t>
            </a:r>
            <a:r>
              <a:rPr lang="en-US" sz="2400" dirty="0" smtClean="0"/>
              <a:t>, </a:t>
            </a:r>
            <a:r>
              <a:rPr lang="bg-BG" sz="2400" dirty="0" smtClean="0"/>
              <a:t>а </a:t>
            </a:r>
            <a:r>
              <a:rPr lang="en-US" sz="2400" dirty="0" smtClean="0"/>
              <a:t>x </a:t>
            </a:r>
            <a:r>
              <a:rPr lang="bg-BG" sz="2400" dirty="0" smtClean="0"/>
              <a:t>е </a:t>
            </a:r>
            <a:r>
              <a:rPr lang="en-US" sz="2400" dirty="0" smtClean="0"/>
              <a:t>string. </a:t>
            </a:r>
            <a:r>
              <a:rPr lang="bg-BG" sz="2400" dirty="0" smtClean="0"/>
              <a:t>Следователно типът е </a:t>
            </a:r>
            <a:r>
              <a:rPr lang="en-US" sz="2400" dirty="0" err="1" smtClean="0"/>
              <a:t>Func</a:t>
            </a:r>
            <a:r>
              <a:rPr lang="en-US" sz="2400" dirty="0" smtClean="0"/>
              <a:t>&lt;</a:t>
            </a:r>
            <a:r>
              <a:rPr lang="en-US" sz="2400" dirty="0" err="1" smtClean="0"/>
              <a:t>string,int</a:t>
            </a:r>
            <a:r>
              <a:rPr lang="en-US" sz="2400" dirty="0" smtClean="0"/>
              <a:t>&gt;.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98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Кое твърдение за Predicate&lt;T&gt; е вярно?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bg-BG" dirty="0" smtClean="0"/>
              <a:t>Връща </a:t>
            </a:r>
            <a:r>
              <a:rPr lang="en-US" dirty="0" smtClean="0"/>
              <a:t>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bg-BG" dirty="0" smtClean="0"/>
              <a:t>Връща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bg-BG" dirty="0" smtClean="0"/>
              <a:t>Връща </a:t>
            </a:r>
            <a:r>
              <a:rPr lang="en-US" dirty="0" smtClean="0"/>
              <a:t>bool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bg-BG" dirty="0" smtClean="0"/>
              <a:t>Не приема параметри</a:t>
            </a:r>
            <a:endParaRPr lang="bg-BG" dirty="0"/>
          </a:p>
          <a:p>
            <a:pPr marL="514350" indent="-514350">
              <a:buAutoNum type="alphaUcParenR"/>
            </a:pPr>
            <a:endParaRPr lang="bg-BG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130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Кое твърдение за Predicate&lt;T&gt; е вярно?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arenR"/>
            </a:pPr>
            <a:r>
              <a:rPr lang="bg-BG" dirty="0" smtClean="0"/>
              <a:t>Връща </a:t>
            </a:r>
            <a:r>
              <a:rPr lang="en-US" dirty="0" smtClean="0"/>
              <a:t>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bg-BG" dirty="0" smtClean="0"/>
              <a:t>Връща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bg-BG" dirty="0" smtClean="0">
                <a:solidFill>
                  <a:srgbClr val="FF0000"/>
                </a:solidFill>
              </a:rPr>
              <a:t>Връща </a:t>
            </a:r>
            <a:r>
              <a:rPr lang="en-US" dirty="0" smtClean="0">
                <a:solidFill>
                  <a:srgbClr val="FF0000"/>
                </a:solidFill>
              </a:rPr>
              <a:t>bool</a:t>
            </a:r>
            <a:endParaRPr lang="bg-BG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bg-BG" dirty="0" smtClean="0"/>
              <a:t>Не приема параметри</a:t>
            </a:r>
            <a:endParaRPr lang="bg-BG" dirty="0"/>
          </a:p>
          <a:p>
            <a:pPr marL="514350" indent="-514350">
              <a:buAutoNum type="alphaUcParenR"/>
            </a:pPr>
            <a:endParaRPr lang="bg-BG" dirty="0" smtClean="0"/>
          </a:p>
          <a:p>
            <a:pPr marL="0" indent="0">
              <a:buNone/>
            </a:pPr>
            <a:r>
              <a:rPr lang="bg-BG" sz="2400" dirty="0" smtClean="0"/>
              <a:t>Отговор:</a:t>
            </a:r>
          </a:p>
          <a:p>
            <a:pPr marL="0" indent="0">
              <a:buNone/>
            </a:pPr>
            <a:r>
              <a:rPr lang="ru-RU" sz="2400" dirty="0" smtClean="0"/>
              <a:t>Predicate&lt;T&gt; винаги връща bool. Използва се за проверки и условия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r>
              <a:rPr lang="ru-RU" sz="2400" dirty="0"/>
              <a:t>Predicate&lt;T&gt; е просто Func&lt;T, bool&gt;, но със специално име за четимост.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916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5.</a:t>
            </a:r>
            <a:r>
              <a:rPr lang="ru-RU" dirty="0" smtClean="0"/>
              <a:t> Какъв ще е резултатът от:</a:t>
            </a:r>
            <a:br>
              <a:rPr lang="ru-RU" dirty="0" smtClean="0"/>
            </a:br>
            <a:r>
              <a:rPr lang="ru-RU" dirty="0" smtClean="0"/>
              <a:t>	</a:t>
            </a:r>
            <a:r>
              <a:rPr lang="en-US" sz="3600" dirty="0" smtClean="0"/>
              <a:t>Predicate&lt;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</a:t>
            </a:r>
            <a:r>
              <a:rPr lang="en-US" sz="3600" dirty="0" err="1" smtClean="0"/>
              <a:t>isEven</a:t>
            </a:r>
            <a:r>
              <a:rPr lang="en-US" sz="3600" dirty="0" smtClean="0"/>
              <a:t> = x =&gt; x % 2 == 0;</a:t>
            </a:r>
            <a:br>
              <a:rPr lang="en-US" sz="3600" dirty="0" smtClean="0"/>
            </a:br>
            <a:r>
              <a:rPr lang="bg-BG" sz="3600" dirty="0" smtClean="0"/>
              <a:t>	</a:t>
            </a:r>
            <a:r>
              <a:rPr lang="en-US" sz="3600" dirty="0" err="1" smtClean="0"/>
              <a:t>isEven</a:t>
            </a:r>
            <a:r>
              <a:rPr lang="en-US" sz="3600" dirty="0" smtClean="0"/>
              <a:t>(3);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5339"/>
            <a:ext cx="10515600" cy="2746375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true</a:t>
            </a:r>
            <a:br>
              <a:rPr lang="ru-RU" dirty="0" smtClean="0"/>
            </a:br>
            <a:r>
              <a:rPr lang="ru-RU" dirty="0" smtClean="0"/>
              <a:t>B) false</a:t>
            </a:r>
            <a:br>
              <a:rPr lang="ru-RU" dirty="0" smtClean="0"/>
            </a:br>
            <a:r>
              <a:rPr lang="ru-RU" dirty="0" smtClean="0"/>
              <a:t>C) 3</a:t>
            </a:r>
            <a:br>
              <a:rPr lang="ru-RU" dirty="0" smtClean="0"/>
            </a:br>
            <a:r>
              <a:rPr lang="ru-RU" dirty="0" smtClean="0"/>
              <a:t>D) Грешка при компилация</a:t>
            </a:r>
            <a:endParaRPr lang="bg-BG" dirty="0" smtClean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929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5.</a:t>
            </a:r>
            <a:r>
              <a:rPr lang="ru-RU" dirty="0" smtClean="0"/>
              <a:t> Какъв ще е резултатът от:</a:t>
            </a:r>
            <a:br>
              <a:rPr lang="ru-RU" dirty="0" smtClean="0"/>
            </a:br>
            <a:r>
              <a:rPr lang="ru-RU" dirty="0" smtClean="0"/>
              <a:t>	</a:t>
            </a:r>
            <a:r>
              <a:rPr lang="en-US" sz="3600" dirty="0" smtClean="0"/>
              <a:t>Predicate&lt;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</a:t>
            </a:r>
            <a:r>
              <a:rPr lang="en-US" sz="3600" dirty="0" err="1" smtClean="0"/>
              <a:t>isEven</a:t>
            </a:r>
            <a:r>
              <a:rPr lang="en-US" sz="3600" dirty="0" smtClean="0"/>
              <a:t> = x =&gt; x % 2 == 0;</a:t>
            </a:r>
            <a:br>
              <a:rPr lang="en-US" sz="3600" dirty="0" smtClean="0"/>
            </a:br>
            <a:r>
              <a:rPr lang="bg-BG" sz="3600" dirty="0" smtClean="0"/>
              <a:t>	</a:t>
            </a:r>
            <a:r>
              <a:rPr lang="en-US" sz="3600" dirty="0" err="1" smtClean="0"/>
              <a:t>isEven</a:t>
            </a:r>
            <a:r>
              <a:rPr lang="en-US" sz="3600" dirty="0" smtClean="0"/>
              <a:t>(3);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5339"/>
            <a:ext cx="10515600" cy="318724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true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B) false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C) 3</a:t>
            </a:r>
            <a:br>
              <a:rPr lang="ru-RU" dirty="0" smtClean="0"/>
            </a:br>
            <a:r>
              <a:rPr lang="ru-RU" dirty="0" smtClean="0"/>
              <a:t>D) Грешка при компилация</a:t>
            </a:r>
            <a:endParaRPr lang="bg-BG" dirty="0" smtClean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Отговор: Числото 3 е нечетно, затова x % 2 == 0 връща false.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71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b="1" dirty="0" smtClean="0"/>
              <a:t>6.</a:t>
            </a:r>
            <a:r>
              <a:rPr lang="ru-RU" dirty="0" smtClean="0"/>
              <a:t> Кое от следните е страничен ефект?</a:t>
            </a:r>
            <a:br>
              <a:rPr lang="ru-RU" dirty="0" smtClean="0"/>
            </a:br>
            <a:r>
              <a:rPr lang="ru-RU" dirty="0" smtClean="0"/>
              <a:t>	</a:t>
            </a:r>
            <a:r>
              <a:rPr lang="en-US" sz="3600" dirty="0" smtClean="0"/>
              <a:t>Action&lt;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</a:t>
            </a:r>
            <a:r>
              <a:rPr lang="en-US" sz="3600" dirty="0" err="1" smtClean="0"/>
              <a:t>addToList</a:t>
            </a:r>
            <a:r>
              <a:rPr lang="en-US" sz="3600" dirty="0" smtClean="0"/>
              <a:t> = x =&gt; </a:t>
            </a:r>
            <a:r>
              <a:rPr lang="en-US" sz="3600" dirty="0" err="1" smtClean="0"/>
              <a:t>list.Add</a:t>
            </a:r>
            <a:r>
              <a:rPr lang="en-US" sz="3600" dirty="0" smtClean="0"/>
              <a:t>(x);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657600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Ламбда-изразът</a:t>
            </a:r>
          </a:p>
          <a:p>
            <a:pPr marL="514350" indent="-514350">
              <a:buAutoNum type="alphaUcParenR"/>
            </a:pPr>
            <a:r>
              <a:rPr lang="ru-RU" dirty="0" smtClean="0"/>
              <a:t>Делегатът</a:t>
            </a:r>
          </a:p>
          <a:p>
            <a:pPr marL="514350" indent="-514350">
              <a:buAutoNum type="alphaUcParenR"/>
            </a:pPr>
            <a:r>
              <a:rPr lang="ru-RU" dirty="0" smtClean="0"/>
              <a:t>Промяната на списъка</a:t>
            </a:r>
          </a:p>
          <a:p>
            <a:pPr marL="514350" indent="-514350">
              <a:buAutoNum type="alphaUcParenR"/>
            </a:pPr>
            <a:r>
              <a:rPr lang="ru-RU" dirty="0" smtClean="0"/>
              <a:t>Типът Action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03837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b="1" dirty="0" smtClean="0"/>
              <a:t>6.</a:t>
            </a:r>
            <a:r>
              <a:rPr lang="ru-RU" dirty="0" smtClean="0"/>
              <a:t> Кое от следните е страничен ефект?</a:t>
            </a:r>
            <a:br>
              <a:rPr lang="ru-RU" dirty="0" smtClean="0"/>
            </a:br>
            <a:r>
              <a:rPr lang="ru-RU" dirty="0" smtClean="0"/>
              <a:t>	</a:t>
            </a:r>
            <a:r>
              <a:rPr lang="en-US" sz="3600" dirty="0" smtClean="0"/>
              <a:t>Action&lt;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</a:t>
            </a:r>
            <a:r>
              <a:rPr lang="en-US" sz="3600" dirty="0" err="1" smtClean="0"/>
              <a:t>addToList</a:t>
            </a:r>
            <a:r>
              <a:rPr lang="en-US" sz="3600" dirty="0" smtClean="0"/>
              <a:t> = x =&gt; </a:t>
            </a:r>
            <a:r>
              <a:rPr lang="en-US" sz="3600" dirty="0" err="1" smtClean="0"/>
              <a:t>list.Add</a:t>
            </a:r>
            <a:r>
              <a:rPr lang="en-US" sz="3600" dirty="0" smtClean="0"/>
              <a:t>(x);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4114800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ru-RU" dirty="0" smtClean="0"/>
              <a:t>Ламбда-изразът</a:t>
            </a:r>
          </a:p>
          <a:p>
            <a:pPr marL="514350" indent="-514350">
              <a:buAutoNum type="alphaUcParenR"/>
            </a:pPr>
            <a:r>
              <a:rPr lang="ru-RU" dirty="0" smtClean="0"/>
              <a:t>Делегатът</a:t>
            </a:r>
          </a:p>
          <a:p>
            <a:pPr marL="514350" indent="-514350">
              <a:buAutoNum type="alphaUcParenR"/>
            </a:pPr>
            <a:r>
              <a:rPr lang="ru-RU" dirty="0" smtClean="0">
                <a:solidFill>
                  <a:srgbClr val="FF0000"/>
                </a:solidFill>
              </a:rPr>
              <a:t>Промяната на списъка</a:t>
            </a:r>
          </a:p>
          <a:p>
            <a:pPr marL="514350" indent="-514350">
              <a:buAutoNum type="alphaUcParenR"/>
            </a:pPr>
            <a:r>
              <a:rPr lang="ru-RU" dirty="0" smtClean="0"/>
              <a:t>Типът Action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list.Add(x) променя външен обект (списъка). </a:t>
            </a:r>
          </a:p>
          <a:p>
            <a:pPr marL="0" indent="0">
              <a:buNone/>
            </a:pPr>
            <a:r>
              <a:rPr lang="ru-RU" dirty="0" smtClean="0"/>
              <a:t>Това е класически страничен ефект.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740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514" y="152855"/>
            <a:ext cx="10515600" cy="1724932"/>
          </a:xfrm>
        </p:spPr>
        <p:txBody>
          <a:bodyPr>
            <a:normAutofit/>
          </a:bodyPr>
          <a:lstStyle/>
          <a:p>
            <a:r>
              <a:rPr lang="ru-RU" dirty="0" smtClean="0"/>
              <a:t>7. Какво позволява комбинирането </a:t>
            </a:r>
            <a:br>
              <a:rPr lang="ru-RU" dirty="0" smtClean="0"/>
            </a:br>
            <a:r>
              <a:rPr lang="ru-RU" dirty="0"/>
              <a:t> </a:t>
            </a:r>
            <a:r>
              <a:rPr lang="ru-RU" dirty="0" smtClean="0"/>
              <a:t>    hello + bye?</a:t>
            </a:r>
            <a:endParaRPr lang="en-US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030" y="1730829"/>
            <a:ext cx="9296271" cy="1698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19030" y="3645265"/>
            <a:ext cx="90169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A) </a:t>
            </a:r>
            <a:r>
              <a:rPr lang="bg-BG" sz="2800" dirty="0" smtClean="0"/>
              <a:t>Унаследяване</a:t>
            </a:r>
            <a:br>
              <a:rPr lang="bg-BG" sz="2800" dirty="0" smtClean="0"/>
            </a:br>
            <a:r>
              <a:rPr lang="en-US" sz="2800" dirty="0" smtClean="0"/>
              <a:t>B) </a:t>
            </a:r>
            <a:r>
              <a:rPr lang="bg-BG" sz="2800" dirty="0" smtClean="0"/>
              <a:t>Полиморфизъм</a:t>
            </a:r>
            <a:br>
              <a:rPr lang="bg-BG" sz="2800" dirty="0" smtClean="0"/>
            </a:br>
            <a:r>
              <a:rPr lang="en-US" sz="2800" dirty="0" smtClean="0"/>
              <a:t>C) Multicast </a:t>
            </a:r>
            <a:r>
              <a:rPr lang="bg-BG" sz="2800" dirty="0" smtClean="0"/>
              <a:t>делегат</a:t>
            </a:r>
            <a:br>
              <a:rPr lang="bg-BG" sz="2800" dirty="0" smtClean="0"/>
            </a:br>
            <a:r>
              <a:rPr lang="en-US" sz="2800" dirty="0" smtClean="0"/>
              <a:t>D) Generics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199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514" y="152855"/>
            <a:ext cx="10515600" cy="1724932"/>
          </a:xfrm>
        </p:spPr>
        <p:txBody>
          <a:bodyPr>
            <a:normAutofit/>
          </a:bodyPr>
          <a:lstStyle/>
          <a:p>
            <a:r>
              <a:rPr lang="ru-RU" dirty="0" smtClean="0"/>
              <a:t>7. Какво позволява комбинирането </a:t>
            </a:r>
            <a:br>
              <a:rPr lang="ru-RU" dirty="0" smtClean="0"/>
            </a:br>
            <a:r>
              <a:rPr lang="ru-RU" dirty="0"/>
              <a:t> </a:t>
            </a:r>
            <a:r>
              <a:rPr lang="ru-RU" dirty="0" smtClean="0"/>
              <a:t>    hello + bye?</a:t>
            </a:r>
            <a:endParaRPr lang="en-US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030" y="1730829"/>
            <a:ext cx="9296271" cy="1698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19030" y="3645265"/>
            <a:ext cx="901695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lphaUcParenR"/>
            </a:pPr>
            <a:r>
              <a:rPr lang="bg-BG" sz="2800" dirty="0" smtClean="0"/>
              <a:t>Унаследяване</a:t>
            </a:r>
          </a:p>
          <a:p>
            <a:pPr marL="514350" indent="-514350">
              <a:buAutoNum type="alphaUcParenR"/>
            </a:pPr>
            <a:r>
              <a:rPr lang="bg-BG" sz="2800" dirty="0" smtClean="0"/>
              <a:t>Полиморфизъм</a:t>
            </a:r>
          </a:p>
          <a:p>
            <a:pPr marL="514350" indent="-514350">
              <a:buAutoNum type="alphaUcParenR"/>
            </a:pPr>
            <a:r>
              <a:rPr lang="en-US" sz="2800" dirty="0" smtClean="0">
                <a:solidFill>
                  <a:srgbClr val="FF0000"/>
                </a:solidFill>
              </a:rPr>
              <a:t>Multicast </a:t>
            </a:r>
            <a:r>
              <a:rPr lang="bg-BG" sz="2800" dirty="0" smtClean="0">
                <a:solidFill>
                  <a:srgbClr val="FF0000"/>
                </a:solidFill>
              </a:rPr>
              <a:t>делегат</a:t>
            </a:r>
            <a:endParaRPr lang="bg-BG" sz="2800" dirty="0"/>
          </a:p>
          <a:p>
            <a:pPr marL="514350" indent="-514350">
              <a:buAutoNum type="alphaUcParenR"/>
            </a:pPr>
            <a:r>
              <a:rPr lang="en-US" sz="2800" dirty="0" smtClean="0"/>
              <a:t>Generics</a:t>
            </a:r>
            <a:endParaRPr lang="bg-BG" sz="2800" dirty="0" smtClean="0"/>
          </a:p>
          <a:p>
            <a:r>
              <a:rPr lang="ru-RU" sz="2800" dirty="0" smtClean="0"/>
              <a:t>Отговор:</a:t>
            </a:r>
          </a:p>
          <a:p>
            <a:r>
              <a:rPr lang="ru-RU" sz="2800" dirty="0" smtClean="0"/>
              <a:t>При извикване </a:t>
            </a:r>
            <a:r>
              <a:rPr lang="en-US" sz="2800" dirty="0" smtClean="0"/>
              <a:t>Action&lt;string&gt;  both = hello + </a:t>
            </a:r>
            <a:r>
              <a:rPr lang="en-US" sz="2800" dirty="0" smtClean="0"/>
              <a:t>bye</a:t>
            </a:r>
            <a:endParaRPr lang="en-US" sz="2800" dirty="0" smtClean="0"/>
          </a:p>
          <a:p>
            <a:r>
              <a:rPr lang="ru-RU" sz="2800" dirty="0" smtClean="0"/>
              <a:t>се изпълняват всички функции по ред.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48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8. Какъв е типът на </a:t>
            </a:r>
            <a:r>
              <a:rPr lang="en-US" sz="3600" dirty="0" err="1" smtClean="0"/>
              <a:t>Func</a:t>
            </a:r>
            <a:r>
              <a:rPr lang="en-US" sz="3600" dirty="0" smtClean="0"/>
              <a:t>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820885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err="1" smtClean="0"/>
              <a:t>int</a:t>
            </a:r>
            <a:r>
              <a:rPr lang="en-US" dirty="0" smtClean="0"/>
              <a:t> →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>
                <a:latin typeface="Bahnschrift Light" panose="020B0502040204020203" pitchFamily="34" charset="0"/>
              </a:rPr>
              <a:t>() </a:t>
            </a:r>
            <a:r>
              <a:rPr lang="en-US" dirty="0" smtClean="0"/>
              <a:t>→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err="1" smtClean="0"/>
              <a:t>int</a:t>
            </a:r>
            <a:r>
              <a:rPr lang="en-US" dirty="0" smtClean="0"/>
              <a:t> → void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() → void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76110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8. Какъв е типът на </a:t>
            </a:r>
            <a:r>
              <a:rPr lang="en-US" sz="3600" dirty="0" err="1" smtClean="0"/>
              <a:t>Func</a:t>
            </a:r>
            <a:r>
              <a:rPr lang="en-US" sz="3600" dirty="0" smtClean="0"/>
              <a:t>&lt;</a:t>
            </a:r>
            <a:r>
              <a:rPr lang="en-US" sz="3600" dirty="0" err="1" smtClean="0"/>
              <a:t>int</a:t>
            </a:r>
            <a:r>
              <a:rPr lang="en-US" sz="3600" dirty="0" smtClean="0"/>
              <a:t>&gt;?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82088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arenR"/>
            </a:pPr>
            <a:r>
              <a:rPr lang="en-US" dirty="0" err="1" smtClean="0"/>
              <a:t>int</a:t>
            </a:r>
            <a:r>
              <a:rPr lang="en-US" dirty="0" smtClean="0"/>
              <a:t> →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>
                <a:solidFill>
                  <a:srgbClr val="FF0000"/>
                </a:solidFill>
                <a:latin typeface="Bahnschrift Light" panose="020B0502040204020203" pitchFamily="34" charset="0"/>
              </a:rPr>
              <a:t>() </a:t>
            </a:r>
            <a:r>
              <a:rPr lang="en-US" dirty="0" smtClean="0">
                <a:solidFill>
                  <a:srgbClr val="FF0000"/>
                </a:solidFill>
              </a:rPr>
              <a:t>→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endParaRPr lang="bg-BG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en-US" dirty="0" err="1" smtClean="0"/>
              <a:t>int</a:t>
            </a:r>
            <a:r>
              <a:rPr lang="en-US" dirty="0" smtClean="0"/>
              <a:t> → void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() → void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Func&lt;int&gt; означава функция без параметри, която връща int. Това е еквивалент на () → int.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235483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9.</a:t>
            </a:r>
            <a:r>
              <a:rPr lang="ru-RU" sz="3600" dirty="0" smtClean="0"/>
              <a:t> Кое от следните НЕ е вярно за ламбда-изрази?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421277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Могат да се присвояват на делегати</a:t>
            </a:r>
            <a:br>
              <a:rPr lang="ru-RU" dirty="0" smtClean="0"/>
            </a:br>
            <a:r>
              <a:rPr lang="ru-RU" dirty="0" smtClean="0"/>
              <a:t>B) Могат да имат странични ефекти</a:t>
            </a:r>
            <a:br>
              <a:rPr lang="ru-RU" dirty="0" smtClean="0"/>
            </a:br>
            <a:r>
              <a:rPr lang="ru-RU" dirty="0" smtClean="0"/>
              <a:t>C) Задължително са чисти функции</a:t>
            </a:r>
            <a:br>
              <a:rPr lang="ru-RU" dirty="0" smtClean="0"/>
            </a:br>
            <a:r>
              <a:rPr lang="ru-RU" dirty="0" smtClean="0"/>
              <a:t>D) Могат да връщат стойност</a:t>
            </a:r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41876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9.</a:t>
            </a:r>
            <a:r>
              <a:rPr lang="ru-RU" sz="3600" dirty="0" smtClean="0"/>
              <a:t> Кое от следните НЕ е вярно за ламбда-изрази?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421277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Могат да се присвояват на делегати</a:t>
            </a:r>
            <a:br>
              <a:rPr lang="ru-RU" dirty="0" smtClean="0"/>
            </a:br>
            <a:r>
              <a:rPr lang="ru-RU" dirty="0" smtClean="0"/>
              <a:t>B) Могат да имат странични ефекти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Задължително са чисти функции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Могат да връщат стойност</a:t>
            </a:r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Ламбда-изразите не са задължително чисти. Те могат да имат странични ефекти.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91362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10.</a:t>
            </a:r>
            <a:r>
              <a:rPr lang="ru-RU" sz="3600" dirty="0" smtClean="0"/>
              <a:t> Какъв е резултатът от:</a:t>
            </a:r>
            <a:br>
              <a:rPr lang="ru-RU" sz="3600" dirty="0" smtClean="0"/>
            </a:br>
            <a:r>
              <a:rPr lang="ru-RU" sz="3600" dirty="0" smtClean="0"/>
              <a:t>		</a:t>
            </a:r>
            <a:r>
              <a:rPr lang="en-US" sz="3600" dirty="0" err="1" smtClean="0"/>
              <a:t>Func</a:t>
            </a:r>
            <a:r>
              <a:rPr lang="en-US" sz="3600" dirty="0" smtClean="0"/>
              <a:t>&lt;</a:t>
            </a:r>
            <a:r>
              <a:rPr lang="en-US" sz="3600" dirty="0" err="1" smtClean="0"/>
              <a:t>int</a:t>
            </a:r>
            <a:r>
              <a:rPr lang="en-US" sz="3600" dirty="0" smtClean="0"/>
              <a:t>, 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f = x =&gt; x * 2;</a:t>
            </a:r>
            <a:br>
              <a:rPr lang="en-US" sz="3600" dirty="0" smtClean="0"/>
            </a:br>
            <a:r>
              <a:rPr lang="bg-BG" sz="3600" dirty="0" smtClean="0"/>
              <a:t>		</a:t>
            </a:r>
            <a:r>
              <a:rPr lang="en-US" sz="3600" dirty="0" smtClean="0"/>
              <a:t>f(2);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5339"/>
            <a:ext cx="10515600" cy="2746375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A) 2</a:t>
            </a:r>
            <a:br>
              <a:rPr lang="pt-BR" dirty="0" smtClean="0"/>
            </a:br>
            <a:r>
              <a:rPr lang="pt-BR" dirty="0" smtClean="0"/>
              <a:t>B) 4</a:t>
            </a:r>
            <a:br>
              <a:rPr lang="pt-BR" dirty="0" smtClean="0"/>
            </a:br>
            <a:r>
              <a:rPr lang="pt-BR" dirty="0" smtClean="0"/>
              <a:t>C) 8</a:t>
            </a:r>
            <a:br>
              <a:rPr lang="pt-BR" dirty="0" smtClean="0"/>
            </a:br>
            <a:r>
              <a:rPr lang="pt-BR" dirty="0" smtClean="0"/>
              <a:t>D) Грешка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29279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10.</a:t>
            </a:r>
            <a:r>
              <a:rPr lang="ru-RU" sz="3600" dirty="0" smtClean="0"/>
              <a:t> Какъв е резултатът от:</a:t>
            </a:r>
            <a:br>
              <a:rPr lang="ru-RU" sz="3600" dirty="0" smtClean="0"/>
            </a:br>
            <a:r>
              <a:rPr lang="ru-RU" sz="3600" dirty="0" smtClean="0"/>
              <a:t>		</a:t>
            </a:r>
            <a:r>
              <a:rPr lang="en-US" sz="3600" dirty="0" err="1" smtClean="0"/>
              <a:t>Func</a:t>
            </a:r>
            <a:r>
              <a:rPr lang="en-US" sz="3600" dirty="0" smtClean="0"/>
              <a:t>&lt;</a:t>
            </a:r>
            <a:r>
              <a:rPr lang="en-US" sz="3600" dirty="0" err="1" smtClean="0"/>
              <a:t>int</a:t>
            </a:r>
            <a:r>
              <a:rPr lang="en-US" sz="3600" dirty="0" smtClean="0"/>
              <a:t>, </a:t>
            </a:r>
            <a:r>
              <a:rPr lang="en-US" sz="3600" dirty="0" err="1" smtClean="0"/>
              <a:t>int</a:t>
            </a:r>
            <a:r>
              <a:rPr lang="en-US" sz="3600" dirty="0" smtClean="0"/>
              <a:t>&gt; f = x =&gt; x * 2;</a:t>
            </a:r>
            <a:br>
              <a:rPr lang="en-US" sz="3600" dirty="0" smtClean="0"/>
            </a:br>
            <a:r>
              <a:rPr lang="bg-BG" sz="3600" dirty="0" smtClean="0"/>
              <a:t>		</a:t>
            </a:r>
            <a:r>
              <a:rPr lang="en-US" sz="3600" dirty="0" smtClean="0"/>
              <a:t>f(2);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78767"/>
            <a:ext cx="10515600" cy="3922032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A) 2</a:t>
            </a:r>
            <a:br>
              <a:rPr lang="pt-BR" dirty="0" smtClean="0"/>
            </a:br>
            <a:r>
              <a:rPr lang="pt-BR" dirty="0" smtClean="0">
                <a:solidFill>
                  <a:srgbClr val="FF0000"/>
                </a:solidFill>
              </a:rPr>
              <a:t>B) 4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C) 8</a:t>
            </a:r>
            <a:br>
              <a:rPr lang="pt-BR" dirty="0" smtClean="0"/>
            </a:br>
            <a:r>
              <a:rPr lang="pt-BR" dirty="0" smtClean="0"/>
              <a:t>D) Грешка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 </a:t>
            </a:r>
          </a:p>
          <a:p>
            <a:pPr marL="0" indent="0">
              <a:buNone/>
            </a:pPr>
            <a:r>
              <a:rPr lang="ru-RU" dirty="0" smtClean="0"/>
              <a:t>Функцията умножава входа по 2. При вход 2 резултатът е 4.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73529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11. Какво означава </a:t>
            </a:r>
            <a:r>
              <a:rPr lang="en-US" sz="3600" dirty="0" smtClean="0"/>
              <a:t>Compose(f, g)?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		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706585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smtClean="0"/>
              <a:t>g(f(x))</a:t>
            </a:r>
          </a:p>
          <a:p>
            <a:pPr marL="514350" indent="-514350">
              <a:buAutoNum type="alphaUcParenR"/>
            </a:pPr>
            <a:r>
              <a:rPr lang="en-US" dirty="0" smtClean="0"/>
              <a:t>f(g(x))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US" dirty="0" smtClean="0"/>
              <a:t>f(x) + g(x)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US" dirty="0" smtClean="0"/>
              <a:t>f(x, g(x))</a:t>
            </a:r>
            <a:endParaRPr lang="bg-BG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564" y="2805339"/>
            <a:ext cx="6958452" cy="9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3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11. Какво означава </a:t>
            </a:r>
            <a:r>
              <a:rPr lang="en-US" sz="3600" dirty="0" smtClean="0"/>
              <a:t>Compose(f, g)?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		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706585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smtClean="0"/>
              <a:t>g(f(x))</a:t>
            </a:r>
          </a:p>
          <a:p>
            <a:pPr marL="514350" indent="-514350">
              <a:buAutoNum type="alphaUcParenR"/>
            </a:pPr>
            <a:r>
              <a:rPr lang="en-US" dirty="0" smtClean="0">
                <a:solidFill>
                  <a:srgbClr val="FF0000"/>
                </a:solidFill>
              </a:rPr>
              <a:t>f(g(x))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en-US" dirty="0" smtClean="0"/>
              <a:t>f(x) + g(x)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US" dirty="0" smtClean="0"/>
              <a:t>f(x, g(x))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bg-BG" dirty="0" smtClean="0"/>
              <a:t>По дефиниция (</a:t>
            </a:r>
            <a:r>
              <a:rPr lang="en-US" dirty="0" smtClean="0"/>
              <a:t>f ∘ g)(x) = f(g(x)). </a:t>
            </a:r>
            <a:r>
              <a:rPr lang="bg-BG" dirty="0" smtClean="0"/>
              <a:t>Първо се изпълнява </a:t>
            </a:r>
            <a:r>
              <a:rPr lang="en-US" dirty="0" smtClean="0"/>
              <a:t>g, </a:t>
            </a:r>
            <a:r>
              <a:rPr lang="bg-BG" dirty="0" smtClean="0"/>
              <a:t>после </a:t>
            </a:r>
            <a:r>
              <a:rPr lang="en-US" dirty="0" smtClean="0"/>
              <a:t>f.</a:t>
            </a:r>
            <a:endParaRPr lang="bg-BG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564" y="2805339"/>
            <a:ext cx="6958452" cy="9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2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fr-FR" sz="3600" dirty="0" smtClean="0"/>
              <a:t>12. </a:t>
            </a:r>
            <a:r>
              <a:rPr lang="fr-FR" sz="3600" dirty="0" err="1" smtClean="0"/>
              <a:t>Какъв</a:t>
            </a:r>
            <a:r>
              <a:rPr lang="fr-FR" sz="3600" dirty="0" smtClean="0"/>
              <a:t> е </a:t>
            </a:r>
            <a:r>
              <a:rPr lang="fr-FR" sz="3600" dirty="0" err="1" smtClean="0"/>
              <a:t>типът</a:t>
            </a:r>
            <a:r>
              <a:rPr lang="fr-FR" sz="3600" dirty="0" smtClean="0"/>
              <a:t> </a:t>
            </a:r>
            <a:r>
              <a:rPr lang="fr-FR" sz="3600" dirty="0" err="1" smtClean="0"/>
              <a:t>на</a:t>
            </a:r>
            <a:r>
              <a:rPr lang="fr-FR" sz="3600" dirty="0" smtClean="0"/>
              <a:t> Compose(</a:t>
            </a:r>
            <a:r>
              <a:rPr lang="fr-FR" sz="3600" dirty="0" err="1" smtClean="0"/>
              <a:t>ToDouble</a:t>
            </a:r>
            <a:r>
              <a:rPr lang="fr-FR" sz="3600" dirty="0" smtClean="0"/>
              <a:t>, </a:t>
            </a:r>
            <a:r>
              <a:rPr lang="fr-FR" sz="3600" dirty="0" err="1" smtClean="0"/>
              <a:t>ParseInt</a:t>
            </a:r>
            <a:r>
              <a:rPr lang="fr-FR" sz="3600" dirty="0" smtClean="0"/>
              <a:t>)?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		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706585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smtClean="0"/>
              <a:t>A) </a:t>
            </a:r>
            <a:r>
              <a:rPr lang="en-US" dirty="0" err="1" smtClean="0"/>
              <a:t>int</a:t>
            </a:r>
            <a:r>
              <a:rPr lang="en-US" dirty="0" smtClean="0"/>
              <a:t> → double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string →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string → double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double → string</a:t>
            </a:r>
            <a:endParaRPr lang="bg-BG" dirty="0" smtClean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631" y="3504094"/>
            <a:ext cx="7435076" cy="13030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31" y="2237732"/>
            <a:ext cx="7435076" cy="112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7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fr-FR" sz="3600" dirty="0" smtClean="0"/>
              <a:t>12. </a:t>
            </a:r>
            <a:r>
              <a:rPr lang="fr-FR" sz="3600" dirty="0" err="1" smtClean="0"/>
              <a:t>Какъв</a:t>
            </a:r>
            <a:r>
              <a:rPr lang="fr-FR" sz="3600" dirty="0" smtClean="0"/>
              <a:t> е </a:t>
            </a:r>
            <a:r>
              <a:rPr lang="fr-FR" sz="3600" dirty="0" err="1" smtClean="0"/>
              <a:t>типът</a:t>
            </a:r>
            <a:r>
              <a:rPr lang="fr-FR" sz="3600" dirty="0" smtClean="0"/>
              <a:t> </a:t>
            </a:r>
            <a:r>
              <a:rPr lang="fr-FR" sz="3600" dirty="0" err="1" smtClean="0"/>
              <a:t>на</a:t>
            </a:r>
            <a:r>
              <a:rPr lang="fr-FR" sz="3600" dirty="0" smtClean="0"/>
              <a:t> Compose(</a:t>
            </a:r>
            <a:r>
              <a:rPr lang="fr-FR" sz="3600" dirty="0" err="1" smtClean="0"/>
              <a:t>ToDouble</a:t>
            </a:r>
            <a:r>
              <a:rPr lang="fr-FR" sz="3600" dirty="0" smtClean="0"/>
              <a:t>, </a:t>
            </a:r>
            <a:r>
              <a:rPr lang="fr-FR" sz="3600" dirty="0" err="1" smtClean="0"/>
              <a:t>ParseInt</a:t>
            </a:r>
            <a:r>
              <a:rPr lang="fr-FR" sz="3600" dirty="0" smtClean="0"/>
              <a:t>)?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		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2329"/>
            <a:ext cx="10515600" cy="3984171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dirty="0" smtClean="0"/>
              <a:t>A) </a:t>
            </a:r>
            <a:r>
              <a:rPr lang="en-US" dirty="0" err="1" smtClean="0"/>
              <a:t>int</a:t>
            </a:r>
            <a:r>
              <a:rPr lang="en-US" dirty="0" smtClean="0"/>
              <a:t> → double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/>
              <a:t>string → </a:t>
            </a:r>
            <a:r>
              <a:rPr lang="en-US" dirty="0" err="1" smtClean="0"/>
              <a:t>int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smtClean="0">
                <a:solidFill>
                  <a:srgbClr val="FF0000"/>
                </a:solidFill>
              </a:rPr>
              <a:t>string → double</a:t>
            </a:r>
            <a:endParaRPr lang="bg-BG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en-US" dirty="0" smtClean="0"/>
              <a:t>double → string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en-US" dirty="0" err="1" smtClean="0"/>
              <a:t>ParseInt</a:t>
            </a:r>
            <a:r>
              <a:rPr lang="en-US" dirty="0" smtClean="0"/>
              <a:t> </a:t>
            </a:r>
            <a:r>
              <a:rPr lang="bg-BG" dirty="0" smtClean="0"/>
              <a:t>е </a:t>
            </a:r>
            <a:r>
              <a:rPr lang="en-US" dirty="0" smtClean="0"/>
              <a:t>string →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ToDouble</a:t>
            </a:r>
            <a:r>
              <a:rPr lang="en-US" dirty="0" smtClean="0"/>
              <a:t> </a:t>
            </a:r>
            <a:r>
              <a:rPr lang="bg-BG" dirty="0" smtClean="0"/>
              <a:t>е </a:t>
            </a:r>
            <a:r>
              <a:rPr lang="en-US" dirty="0" err="1" smtClean="0"/>
              <a:t>int</a:t>
            </a:r>
            <a:r>
              <a:rPr lang="en-US" dirty="0" smtClean="0"/>
              <a:t> → double. </a:t>
            </a:r>
            <a:r>
              <a:rPr lang="bg-BG" dirty="0" smtClean="0"/>
              <a:t>Композицията дава </a:t>
            </a:r>
            <a:r>
              <a:rPr lang="en-US" dirty="0" smtClean="0"/>
              <a:t>string → double.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302" y="3642887"/>
            <a:ext cx="7435076" cy="1303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813" y="2302328"/>
            <a:ext cx="7419029" cy="11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7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13.</a:t>
            </a:r>
            <a:r>
              <a:rPr lang="ru-RU" sz="3600" dirty="0" smtClean="0"/>
              <a:t> Кое е вярно за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5371"/>
            <a:ext cx="10515600" cy="339634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Редът няма значение</a:t>
            </a:r>
            <a:br>
              <a:rPr lang="ru-RU" dirty="0" smtClean="0"/>
            </a:br>
            <a:r>
              <a:rPr lang="ru-RU" dirty="0" smtClean="0"/>
              <a:t>B) Работи само за еднакви типове</a:t>
            </a:r>
            <a:br>
              <a:rPr lang="ru-RU" dirty="0" smtClean="0"/>
            </a:br>
            <a:r>
              <a:rPr lang="ru-RU" dirty="0" smtClean="0"/>
              <a:t>C) Изходът на едната е вход за другата</a:t>
            </a:r>
            <a:br>
              <a:rPr lang="ru-RU" dirty="0" smtClean="0"/>
            </a:br>
            <a:r>
              <a:rPr lang="ru-RU" dirty="0" smtClean="0"/>
              <a:t>D) Използва цикли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25039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13.</a:t>
            </a:r>
            <a:r>
              <a:rPr lang="ru-RU" sz="3600" dirty="0" smtClean="0"/>
              <a:t> Кое е вярно за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5371"/>
            <a:ext cx="10515600" cy="4049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A) Редът няма значение</a:t>
            </a:r>
            <a:br>
              <a:rPr lang="ru-RU" dirty="0" smtClean="0"/>
            </a:br>
            <a:r>
              <a:rPr lang="ru-RU" dirty="0" smtClean="0"/>
              <a:t>B) Работи само за еднакви типове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Изходът на едната е вход за другата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Използва цикли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Изходът на едната функция трябва да съвпада с входа на другата. Това е основното правило на композицията.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09232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14.</a:t>
            </a:r>
            <a:r>
              <a:rPr lang="ru-RU" sz="3600" dirty="0" smtClean="0"/>
              <a:t> Какъв ще е резултатът от:</a:t>
            </a:r>
            <a:br>
              <a:rPr lang="ru-RU" sz="3600" dirty="0" smtClean="0"/>
            </a:br>
            <a:r>
              <a:rPr lang="ru-RU" sz="3600" dirty="0" smtClean="0"/>
              <a:t> 	</a:t>
            </a:r>
            <a:r>
              <a:rPr lang="en-US" sz="3600" dirty="0" smtClean="0"/>
              <a:t>Compose(</a:t>
            </a:r>
            <a:r>
              <a:rPr lang="en-US" sz="3600" dirty="0" err="1" smtClean="0"/>
              <a:t>AddVAT</a:t>
            </a:r>
            <a:r>
              <a:rPr lang="en-US" sz="3600" dirty="0" smtClean="0"/>
              <a:t>, </a:t>
            </a:r>
            <a:r>
              <a:rPr lang="en-US" sz="3600" dirty="0" err="1" smtClean="0"/>
              <a:t>ToDouble</a:t>
            </a:r>
            <a:r>
              <a:rPr lang="en-US" sz="3600" dirty="0" smtClean="0"/>
              <a:t>)(100)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6"/>
            <a:ext cx="10515600" cy="35922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A) 100</a:t>
            </a:r>
            <a:br>
              <a:rPr lang="pt-BR" dirty="0" smtClean="0"/>
            </a:br>
            <a:r>
              <a:rPr lang="pt-BR" dirty="0" smtClean="0"/>
              <a:t>B) 120</a:t>
            </a:r>
            <a:br>
              <a:rPr lang="pt-BR" dirty="0" smtClean="0"/>
            </a:br>
            <a:r>
              <a:rPr lang="pt-BR" dirty="0" smtClean="0"/>
              <a:t>C) 1.2</a:t>
            </a:r>
            <a:br>
              <a:rPr lang="pt-BR" dirty="0" smtClean="0"/>
            </a:br>
            <a:r>
              <a:rPr lang="pt-BR" dirty="0" smtClean="0"/>
              <a:t>D) Грешка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fr-FR" dirty="0" err="1" smtClean="0"/>
              <a:t>Func</a:t>
            </a:r>
            <a:r>
              <a:rPr lang="fr-FR" dirty="0" smtClean="0"/>
              <a:t>&lt;</a:t>
            </a:r>
            <a:r>
              <a:rPr lang="fr-FR" dirty="0" err="1" smtClean="0"/>
              <a:t>int</a:t>
            </a:r>
            <a:r>
              <a:rPr lang="fr-FR" dirty="0" smtClean="0"/>
              <a:t>, double&gt; </a:t>
            </a:r>
            <a:r>
              <a:rPr lang="fr-FR" dirty="0" err="1" smtClean="0"/>
              <a:t>ToDouble</a:t>
            </a:r>
            <a:r>
              <a:rPr lang="fr-FR" dirty="0" smtClean="0"/>
              <a:t> =  i =&gt; (double)i;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err="1" smtClean="0"/>
              <a:t>Func</a:t>
            </a:r>
            <a:r>
              <a:rPr lang="fr-FR" dirty="0" smtClean="0"/>
              <a:t>&lt;double, double&gt; </a:t>
            </a:r>
            <a:r>
              <a:rPr lang="fr-FR" dirty="0" err="1" smtClean="0"/>
              <a:t>AddVAT</a:t>
            </a:r>
            <a:r>
              <a:rPr lang="fr-FR" dirty="0" smtClean="0"/>
              <a:t> =   d =&gt; d * 1.20;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16197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14.</a:t>
            </a:r>
            <a:r>
              <a:rPr lang="ru-RU" sz="3600" dirty="0" smtClean="0"/>
              <a:t> Какъв ще е резултатът от:</a:t>
            </a:r>
            <a:br>
              <a:rPr lang="ru-RU" sz="3600" dirty="0" smtClean="0"/>
            </a:br>
            <a:r>
              <a:rPr lang="ru-RU" sz="3600" dirty="0" smtClean="0"/>
              <a:t> 	</a:t>
            </a:r>
            <a:r>
              <a:rPr lang="en-US" sz="3600" dirty="0" smtClean="0"/>
              <a:t>Compose(</a:t>
            </a:r>
            <a:r>
              <a:rPr lang="en-US" sz="3600" dirty="0" err="1" smtClean="0"/>
              <a:t>AddVAT</a:t>
            </a:r>
            <a:r>
              <a:rPr lang="en-US" sz="3600" dirty="0" smtClean="0"/>
              <a:t>, </a:t>
            </a:r>
            <a:r>
              <a:rPr lang="en-US" sz="3600" dirty="0" err="1" smtClean="0"/>
              <a:t>ToDouble</a:t>
            </a:r>
            <a:r>
              <a:rPr lang="en-US" sz="3600" dirty="0" smtClean="0"/>
              <a:t>)(100)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6"/>
            <a:ext cx="10515600" cy="3592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A) 100</a:t>
            </a:r>
            <a:br>
              <a:rPr lang="pt-BR" dirty="0" smtClean="0"/>
            </a:br>
            <a:r>
              <a:rPr lang="pt-BR" dirty="0" smtClean="0">
                <a:solidFill>
                  <a:srgbClr val="FF0000"/>
                </a:solidFill>
              </a:rPr>
              <a:t>B) 120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C) 1.2</a:t>
            </a:r>
            <a:br>
              <a:rPr lang="pt-BR" dirty="0" smtClean="0"/>
            </a:br>
            <a:r>
              <a:rPr lang="pt-BR" dirty="0" smtClean="0"/>
              <a:t>D) Грешка</a:t>
            </a:r>
            <a:endParaRPr lang="bg-BG" dirty="0" smtClean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ToDouble(100) приема 100 и връща 100.0. AddVAT умножава 100.0 по 1.2 и връща резултат 120.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04435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15.</a:t>
            </a:r>
            <a:r>
              <a:rPr lang="ru-RU" sz="3600" dirty="0" smtClean="0"/>
              <a:t> Какво е предимство на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5339"/>
            <a:ext cx="10515600" cy="353014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Повече междинни променливи</a:t>
            </a:r>
            <a:br>
              <a:rPr lang="ru-RU" dirty="0" smtClean="0"/>
            </a:br>
            <a:r>
              <a:rPr lang="ru-RU" dirty="0" smtClean="0"/>
              <a:t>B) По-малко функции</a:t>
            </a:r>
            <a:br>
              <a:rPr lang="ru-RU" dirty="0" smtClean="0"/>
            </a:br>
            <a:r>
              <a:rPr lang="ru-RU" dirty="0" smtClean="0"/>
              <a:t>C) Pipeline без междинни стойности</a:t>
            </a:r>
            <a:br>
              <a:rPr lang="ru-RU" dirty="0" smtClean="0"/>
            </a:br>
            <a:r>
              <a:rPr lang="ru-RU" dirty="0" smtClean="0"/>
              <a:t>D) По-бързо изпълнение винаги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54633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15.</a:t>
            </a:r>
            <a:r>
              <a:rPr lang="ru-RU" sz="3600" dirty="0" smtClean="0"/>
              <a:t> Какво е предимство на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5339"/>
            <a:ext cx="10515600" cy="35301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A) Повече междинни променливи</a:t>
            </a:r>
            <a:br>
              <a:rPr lang="ru-RU" dirty="0" smtClean="0"/>
            </a:br>
            <a:r>
              <a:rPr lang="ru-RU" dirty="0" smtClean="0"/>
              <a:t>B) По-малко функции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Pipeline без междинни стойности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По-бързо изпълнение винаги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Отговор: </a:t>
            </a:r>
          </a:p>
          <a:p>
            <a:pPr marL="0" indent="0">
              <a:buNone/>
            </a:pPr>
            <a:r>
              <a:rPr lang="ru-RU" dirty="0" smtClean="0"/>
              <a:t>Композицията позволява pipeline без междинни променливи. </a:t>
            </a:r>
          </a:p>
          <a:p>
            <a:pPr marL="0" indent="0">
              <a:buNone/>
            </a:pPr>
            <a:r>
              <a:rPr lang="ru-RU" dirty="0" smtClean="0"/>
              <a:t>Това е ключов принцип във функционалния стил.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23534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16. Кое твърдение за Compose&lt;T1,T2,T3&gt; е вярно?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Работи само с числа</a:t>
            </a:r>
          </a:p>
          <a:p>
            <a:pPr marL="514350" indent="-514350">
              <a:buAutoNum type="alphaUcParenR"/>
            </a:pPr>
            <a:r>
              <a:rPr lang="ru-RU" dirty="0" smtClean="0"/>
              <a:t>Работи само с int</a:t>
            </a:r>
          </a:p>
          <a:p>
            <a:pPr marL="514350" indent="-514350">
              <a:buAutoNum type="alphaUcParenR"/>
            </a:pPr>
            <a:r>
              <a:rPr lang="ru-RU" dirty="0" smtClean="0"/>
              <a:t>Позволява различни входни/изходни типове</a:t>
            </a:r>
          </a:p>
          <a:p>
            <a:pPr marL="514350" indent="-514350">
              <a:buAutoNum type="alphaUcParenR"/>
            </a:pPr>
            <a:r>
              <a:rPr lang="ru-RU" dirty="0" smtClean="0"/>
              <a:t>Не е generic</a:t>
            </a:r>
          </a:p>
          <a:p>
            <a:pPr marL="514350" indent="-514350">
              <a:buAutoNum type="alphaUcParenR"/>
            </a:pPr>
            <a:endParaRPr lang="ru-RU" dirty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16366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16. Кое твърдение за Compose&lt;T1,T2,T3&gt; е вярно?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ru-RU" dirty="0" smtClean="0"/>
              <a:t>Работи само с числа</a:t>
            </a:r>
          </a:p>
          <a:p>
            <a:pPr marL="514350" indent="-514350">
              <a:buAutoNum type="alphaUcParenR"/>
            </a:pPr>
            <a:r>
              <a:rPr lang="ru-RU" dirty="0" smtClean="0"/>
              <a:t>Работи само с int</a:t>
            </a:r>
          </a:p>
          <a:p>
            <a:pPr marL="514350" indent="-514350">
              <a:buAutoNum type="alphaUcParenR"/>
            </a:pPr>
            <a:r>
              <a:rPr lang="ru-RU" dirty="0" smtClean="0">
                <a:solidFill>
                  <a:srgbClr val="FF0000"/>
                </a:solidFill>
              </a:rPr>
              <a:t>Позволява различни входни/изходни типове</a:t>
            </a:r>
          </a:p>
          <a:p>
            <a:pPr marL="514350" indent="-514350">
              <a:buAutoNum type="alphaUcParenR"/>
            </a:pPr>
            <a:r>
              <a:rPr lang="ru-RU" dirty="0" smtClean="0"/>
              <a:t>Не е generic</a:t>
            </a:r>
          </a:p>
          <a:p>
            <a:pPr marL="514350" indent="-514350">
              <a:buAutoNum type="alphaUcParenR"/>
            </a:pPr>
            <a:endParaRPr lang="ru-RU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Generic версията позволява различни входни и изходни типове. Това я прави много гъвкава.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94281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17. </a:t>
            </a:r>
            <a:r>
              <a:rPr lang="ru-RU" sz="3600" dirty="0" smtClean="0"/>
              <a:t>Кое НЕ е вярно за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Намалява нуждата от променливи</a:t>
            </a:r>
            <a:br>
              <a:rPr lang="ru-RU" dirty="0" smtClean="0"/>
            </a:br>
            <a:r>
              <a:rPr lang="ru-RU" dirty="0" smtClean="0"/>
              <a:t>B) Подобрява четимостта</a:t>
            </a:r>
            <a:br>
              <a:rPr lang="ru-RU" dirty="0" smtClean="0"/>
            </a:br>
            <a:r>
              <a:rPr lang="ru-RU" dirty="0" smtClean="0"/>
              <a:t>C) Заменя рекурсията</a:t>
            </a:r>
            <a:br>
              <a:rPr lang="ru-RU" dirty="0" smtClean="0"/>
            </a:br>
            <a:r>
              <a:rPr lang="ru-RU" dirty="0" smtClean="0"/>
              <a:t>D) Работи с делегати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73201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17. </a:t>
            </a:r>
            <a:r>
              <a:rPr lang="ru-RU" sz="3600" dirty="0" smtClean="0"/>
              <a:t>Кое НЕ е вярно за композицията?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Намалява нуждата от променливи</a:t>
            </a:r>
            <a:br>
              <a:rPr lang="ru-RU" dirty="0" smtClean="0"/>
            </a:br>
            <a:r>
              <a:rPr lang="ru-RU" dirty="0" smtClean="0"/>
              <a:t>B) Подобрява четимостта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Заменя рекурсията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Работи с делегати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Композицията </a:t>
            </a:r>
            <a:r>
              <a:rPr lang="ru-RU" b="1" dirty="0" smtClean="0"/>
              <a:t>не замества рекурсията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Тя комбинира функции, а не управлява повторение.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18144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18.</a:t>
            </a:r>
            <a:r>
              <a:rPr lang="ru-RU" sz="3600" dirty="0" smtClean="0"/>
              <a:t> Коя функция е чиста?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514350" indent="-514350">
              <a:buAutoNum type="alphaUcParenR"/>
            </a:pPr>
            <a:r>
              <a:rPr lang="en-US" dirty="0" err="1" smtClean="0"/>
              <a:t>Console.WriteLine</a:t>
            </a:r>
            <a:r>
              <a:rPr lang="en-US" dirty="0" smtClean="0"/>
              <a:t>(x)</a:t>
            </a:r>
            <a:endParaRPr lang="bg-BG" dirty="0"/>
          </a:p>
          <a:p>
            <a:pPr marL="514350" indent="-514350">
              <a:buAutoNum type="alphaUcParenR"/>
            </a:pPr>
            <a:r>
              <a:rPr lang="en-US" dirty="0" smtClean="0"/>
              <a:t>x =&gt; x + 1</a:t>
            </a:r>
            <a:endParaRPr lang="bg-BG" dirty="0" smtClean="0"/>
          </a:p>
          <a:p>
            <a:pPr marL="514350" indent="-514350">
              <a:buAutoNum type="alphaUcParenR"/>
            </a:pPr>
            <a:r>
              <a:rPr lang="en-US" dirty="0" err="1" smtClean="0"/>
              <a:t>list.Add</a:t>
            </a:r>
            <a:r>
              <a:rPr lang="en-US" dirty="0" smtClean="0"/>
              <a:t>(x)</a:t>
            </a:r>
            <a:endParaRPr lang="bg-BG" dirty="0"/>
          </a:p>
          <a:p>
            <a:pPr marL="514350" indent="-514350">
              <a:buAutoNum type="alphaUcParenR"/>
            </a:pPr>
            <a:r>
              <a:rPr lang="en-US" dirty="0" smtClean="0"/>
              <a:t>counter++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05374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18.</a:t>
            </a:r>
            <a:r>
              <a:rPr lang="ru-RU" sz="3600" dirty="0" smtClean="0"/>
              <a:t> Коя функция е чиста?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lphaUcParenR"/>
            </a:pPr>
            <a:r>
              <a:rPr lang="en-US" dirty="0" err="1" smtClean="0"/>
              <a:t>Console.WriteLine</a:t>
            </a:r>
            <a:r>
              <a:rPr lang="en-US" dirty="0" smtClean="0"/>
              <a:t>(x)</a:t>
            </a:r>
            <a:endParaRPr lang="bg-BG" dirty="0"/>
          </a:p>
          <a:p>
            <a:pPr marL="514350" indent="-514350">
              <a:buAutoNum type="alphaUcParenR"/>
            </a:pPr>
            <a:r>
              <a:rPr lang="en-US" dirty="0" smtClean="0">
                <a:solidFill>
                  <a:srgbClr val="FF0000"/>
                </a:solidFill>
              </a:rPr>
              <a:t>x =&gt; x + 1</a:t>
            </a:r>
            <a:endParaRPr lang="bg-BG" dirty="0" smtClean="0">
              <a:solidFill>
                <a:srgbClr val="FF0000"/>
              </a:solidFill>
            </a:endParaRPr>
          </a:p>
          <a:p>
            <a:pPr marL="514350" indent="-514350">
              <a:buAutoNum type="alphaUcParenR"/>
            </a:pPr>
            <a:r>
              <a:rPr lang="en-US" dirty="0" err="1" smtClean="0"/>
              <a:t>list.Add</a:t>
            </a:r>
            <a:r>
              <a:rPr lang="en-US" dirty="0" smtClean="0"/>
              <a:t>(x)</a:t>
            </a:r>
            <a:endParaRPr lang="bg-BG" dirty="0"/>
          </a:p>
          <a:p>
            <a:pPr marL="514350" indent="-514350">
              <a:buAutoNum type="alphaUcParenR"/>
            </a:pPr>
            <a:r>
              <a:rPr lang="en-US" dirty="0" smtClean="0"/>
              <a:t>counter++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b="1" dirty="0"/>
              <a:t>x =&gt; x + 1</a:t>
            </a:r>
            <a:r>
              <a:rPr lang="ru-RU" dirty="0"/>
              <a:t> е чиста функция, защото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ru-RU" dirty="0" smtClean="0"/>
              <a:t>не </a:t>
            </a:r>
            <a:r>
              <a:rPr lang="ru-RU" dirty="0"/>
              <a:t>променя външно състояние</a:t>
            </a:r>
            <a:r>
              <a:rPr lang="ru-RU" dirty="0" smtClean="0"/>
              <a:t>;</a:t>
            </a:r>
            <a:endParaRPr lang="en-US" dirty="0" smtClean="0"/>
          </a:p>
          <a:p>
            <a:r>
              <a:rPr lang="ru-RU" dirty="0" smtClean="0"/>
              <a:t>няма </a:t>
            </a:r>
            <a:r>
              <a:rPr lang="ru-RU" dirty="0"/>
              <a:t>странични ефекти</a:t>
            </a:r>
            <a:r>
              <a:rPr lang="ru-RU" dirty="0" smtClean="0"/>
              <a:t>;</a:t>
            </a:r>
            <a:endParaRPr lang="en-US" dirty="0" smtClean="0"/>
          </a:p>
          <a:p>
            <a:r>
              <a:rPr lang="ru-RU" dirty="0" smtClean="0"/>
              <a:t>винаги </a:t>
            </a:r>
            <a:r>
              <a:rPr lang="ru-RU" dirty="0"/>
              <a:t>връща един и същ резултат при едни и същи </a:t>
            </a:r>
            <a:r>
              <a:rPr lang="ru-RU" dirty="0" smtClean="0"/>
              <a:t>аргументи</a:t>
            </a:r>
            <a:r>
              <a:rPr lang="en-US" dirty="0" smtClean="0"/>
              <a:t>;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83470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19. Защо </a:t>
            </a:r>
            <a:r>
              <a:rPr lang="en-US" sz="3600" dirty="0" err="1" smtClean="0"/>
              <a:t>MultyNum</a:t>
            </a:r>
            <a:r>
              <a:rPr lang="en-US" sz="3600" dirty="0" smtClean="0"/>
              <a:t>&lt;T&gt; </a:t>
            </a:r>
            <a:r>
              <a:rPr lang="bg-BG" sz="3600" dirty="0" smtClean="0"/>
              <a:t>използва </a:t>
            </a:r>
            <a:r>
              <a:rPr lang="en-US" sz="3600" dirty="0" err="1" smtClean="0"/>
              <a:t>INumber</a:t>
            </a:r>
            <a:r>
              <a:rPr lang="en-US" sz="3600" dirty="0" smtClean="0"/>
              <a:t>&lt;T&gt;?</a:t>
            </a:r>
            <a:r>
              <a:rPr lang="bg-BG" sz="3600" dirty="0"/>
              <a:t/>
            </a:r>
            <a:br>
              <a:rPr lang="bg-BG" sz="3600" dirty="0"/>
            </a:br>
            <a:r>
              <a:rPr lang="bg-BG" sz="3600" dirty="0" smtClean="0"/>
              <a:t>         </a:t>
            </a:r>
            <a:r>
              <a:rPr lang="en-US" sz="3600" dirty="0" smtClean="0"/>
              <a:t>static T </a:t>
            </a:r>
            <a:r>
              <a:rPr lang="en-US" sz="3600" dirty="0" err="1" smtClean="0"/>
              <a:t>MultyNum</a:t>
            </a:r>
            <a:r>
              <a:rPr lang="en-US" sz="3600" dirty="0" smtClean="0"/>
              <a:t>&lt;T&gt; </a:t>
            </a:r>
            <a:r>
              <a:rPr lang="bg-BG" sz="3600" dirty="0" smtClean="0"/>
              <a:t> </a:t>
            </a:r>
            <a:r>
              <a:rPr lang="en-US" sz="3600" dirty="0" smtClean="0"/>
              <a:t>where T : </a:t>
            </a:r>
            <a:r>
              <a:rPr lang="en-US" sz="3600" dirty="0" err="1" smtClean="0"/>
              <a:t>INumber</a:t>
            </a:r>
            <a:r>
              <a:rPr lang="en-US" sz="3600" dirty="0" smtClean="0"/>
              <a:t>&lt;T&gt;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За сравнение</a:t>
            </a:r>
            <a:br>
              <a:rPr lang="ru-RU" dirty="0" smtClean="0"/>
            </a:br>
            <a:r>
              <a:rPr lang="ru-RU" dirty="0" smtClean="0"/>
              <a:t>B) За цикли</a:t>
            </a:r>
            <a:br>
              <a:rPr lang="ru-RU" dirty="0" smtClean="0"/>
            </a:br>
            <a:r>
              <a:rPr lang="ru-RU" dirty="0" smtClean="0"/>
              <a:t>C) За аритметични операции</a:t>
            </a:r>
            <a:br>
              <a:rPr lang="ru-RU" dirty="0" smtClean="0"/>
            </a:br>
            <a:r>
              <a:rPr lang="ru-RU" dirty="0" smtClean="0"/>
              <a:t>D) За стрингове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91157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19. Защо </a:t>
            </a:r>
            <a:r>
              <a:rPr lang="en-US" sz="3600" dirty="0" err="1" smtClean="0"/>
              <a:t>MultyNum</a:t>
            </a:r>
            <a:r>
              <a:rPr lang="en-US" sz="3600" dirty="0" smtClean="0"/>
              <a:t>&lt;T&gt; </a:t>
            </a:r>
            <a:r>
              <a:rPr lang="bg-BG" sz="3600" dirty="0" smtClean="0"/>
              <a:t>използва </a:t>
            </a:r>
            <a:r>
              <a:rPr lang="en-US" sz="3600" dirty="0" err="1" smtClean="0"/>
              <a:t>INumber</a:t>
            </a:r>
            <a:r>
              <a:rPr lang="en-US" sz="3600" dirty="0" smtClean="0"/>
              <a:t>&lt;T&gt;?</a:t>
            </a:r>
            <a:r>
              <a:rPr lang="bg-BG" sz="3600" dirty="0"/>
              <a:t/>
            </a:r>
            <a:br>
              <a:rPr lang="bg-BG" sz="3600" dirty="0"/>
            </a:br>
            <a:r>
              <a:rPr lang="bg-BG" sz="3600" dirty="0" smtClean="0"/>
              <a:t>         </a:t>
            </a:r>
            <a:r>
              <a:rPr lang="en-US" sz="3600" dirty="0" smtClean="0"/>
              <a:t>static T </a:t>
            </a:r>
            <a:r>
              <a:rPr lang="en-US" sz="3600" dirty="0" err="1" smtClean="0"/>
              <a:t>MultyNum</a:t>
            </a:r>
            <a:r>
              <a:rPr lang="en-US" sz="3600" dirty="0" smtClean="0"/>
              <a:t>&lt;T&gt; </a:t>
            </a:r>
            <a:r>
              <a:rPr lang="bg-BG" sz="3600" dirty="0" smtClean="0"/>
              <a:t> </a:t>
            </a:r>
            <a:r>
              <a:rPr lang="en-US" sz="3600" dirty="0" smtClean="0"/>
              <a:t>where T : </a:t>
            </a:r>
            <a:r>
              <a:rPr lang="en-US" sz="3600" dirty="0" err="1" smtClean="0"/>
              <a:t>INumber</a:t>
            </a:r>
            <a:r>
              <a:rPr lang="en-US" sz="3600" dirty="0" smtClean="0"/>
              <a:t>&lt;T&gt;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За сравнение</a:t>
            </a:r>
            <a:br>
              <a:rPr lang="ru-RU" dirty="0" smtClean="0"/>
            </a:br>
            <a:r>
              <a:rPr lang="ru-RU" dirty="0" smtClean="0"/>
              <a:t>B) За цикли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За аритметични операции</a:t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dirty="0" smtClean="0"/>
              <a:t>D) За стрингове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INumber&lt;T&gt; позволява използване на аритметични оператори. Без него * не е разрешен за generic тип.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22547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20. </a:t>
            </a:r>
            <a:r>
              <a:rPr lang="fr-FR" sz="3600" dirty="0" err="1" smtClean="0"/>
              <a:t>Какво</a:t>
            </a:r>
            <a:r>
              <a:rPr lang="fr-FR" sz="3600" dirty="0" smtClean="0"/>
              <a:t> </a:t>
            </a:r>
            <a:r>
              <a:rPr lang="fr-FR" sz="3600" dirty="0" err="1" smtClean="0"/>
              <a:t>гарантира</a:t>
            </a:r>
            <a:r>
              <a:rPr lang="fr-FR" sz="3600" dirty="0" smtClean="0"/>
              <a:t> </a:t>
            </a:r>
            <a:r>
              <a:rPr lang="fr-FR" sz="3600" dirty="0" err="1" smtClean="0"/>
              <a:t>constraint</a:t>
            </a:r>
            <a:r>
              <a:rPr lang="bg-BG" sz="3600" dirty="0" smtClean="0"/>
              <a:t/>
            </a:r>
            <a:br>
              <a:rPr lang="bg-BG" sz="3600" dirty="0" smtClean="0"/>
            </a:br>
            <a:r>
              <a:rPr lang="bg-BG" sz="3600" dirty="0"/>
              <a:t>	</a:t>
            </a:r>
            <a:r>
              <a:rPr lang="fr-FR" sz="3600" dirty="0" smtClean="0"/>
              <a:t> </a:t>
            </a:r>
            <a:r>
              <a:rPr lang="fr-FR" sz="3600" dirty="0" err="1" smtClean="0"/>
              <a:t>where</a:t>
            </a:r>
            <a:r>
              <a:rPr lang="fr-FR" sz="3600" dirty="0" smtClean="0"/>
              <a:t> T : </a:t>
            </a:r>
            <a:r>
              <a:rPr lang="fr-FR" sz="3600" dirty="0" err="1" smtClean="0"/>
              <a:t>IComparable</a:t>
            </a:r>
            <a:r>
              <a:rPr lang="fr-FR" sz="3600" dirty="0" smtClean="0"/>
              <a:t>&lt;T&gt;?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Събиране</a:t>
            </a:r>
            <a:br>
              <a:rPr lang="ru-RU" dirty="0" smtClean="0"/>
            </a:br>
            <a:r>
              <a:rPr lang="ru-RU" dirty="0" smtClean="0"/>
              <a:t>B) Умножение</a:t>
            </a:r>
            <a:br>
              <a:rPr lang="ru-RU" dirty="0" smtClean="0"/>
            </a:br>
            <a:r>
              <a:rPr lang="ru-RU" dirty="0" smtClean="0"/>
              <a:t>C) Сравнение</a:t>
            </a:r>
            <a:br>
              <a:rPr lang="ru-RU" dirty="0" smtClean="0"/>
            </a:br>
            <a:r>
              <a:rPr lang="ru-RU" dirty="0" smtClean="0"/>
              <a:t>D) Деление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852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bg-BG" sz="3600" dirty="0" smtClean="0"/>
              <a:t>20. </a:t>
            </a:r>
            <a:r>
              <a:rPr lang="fr-FR" sz="3600" dirty="0" err="1" smtClean="0"/>
              <a:t>Какво</a:t>
            </a:r>
            <a:r>
              <a:rPr lang="fr-FR" sz="3600" dirty="0" smtClean="0"/>
              <a:t> </a:t>
            </a:r>
            <a:r>
              <a:rPr lang="fr-FR" sz="3600" dirty="0" err="1" smtClean="0"/>
              <a:t>гарантира</a:t>
            </a:r>
            <a:r>
              <a:rPr lang="fr-FR" sz="3600" dirty="0" smtClean="0"/>
              <a:t> </a:t>
            </a:r>
            <a:r>
              <a:rPr lang="fr-FR" sz="3600" dirty="0" err="1" smtClean="0"/>
              <a:t>constraint</a:t>
            </a:r>
            <a:r>
              <a:rPr lang="fr-FR" sz="3600" dirty="0" smtClean="0"/>
              <a:t> </a:t>
            </a:r>
            <a:r>
              <a:rPr lang="fr-FR" sz="3600" dirty="0" err="1" smtClean="0"/>
              <a:t>where</a:t>
            </a:r>
            <a:r>
              <a:rPr lang="fr-FR" sz="3600" dirty="0" smtClean="0"/>
              <a:t> T : </a:t>
            </a:r>
            <a:r>
              <a:rPr lang="fr-FR" sz="3600" dirty="0" err="1" smtClean="0"/>
              <a:t>IComparable</a:t>
            </a:r>
            <a:r>
              <a:rPr lang="fr-FR" sz="3600" dirty="0" smtClean="0"/>
              <a:t>&lt;T&gt;?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Събиране</a:t>
            </a:r>
            <a:br>
              <a:rPr lang="ru-RU" dirty="0" smtClean="0"/>
            </a:br>
            <a:r>
              <a:rPr lang="ru-RU" dirty="0" smtClean="0"/>
              <a:t>B) Умножение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Сравнение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Деление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bg-BG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IComparable&lt;T&gt; гарантира, че стойностите могат да се сравняват. Това е нужно за max логика.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216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21.</a:t>
            </a:r>
            <a:r>
              <a:rPr lang="ru-RU" sz="3600" dirty="0" smtClean="0"/>
              <a:t> Кое е вярно за generics?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Работят само с числа</a:t>
            </a:r>
            <a:br>
              <a:rPr lang="ru-RU" dirty="0" smtClean="0"/>
            </a:br>
            <a:r>
              <a:rPr lang="ru-RU" dirty="0" smtClean="0"/>
              <a:t>B) Заменят делегатите</a:t>
            </a:r>
            <a:br>
              <a:rPr lang="ru-RU" dirty="0" smtClean="0"/>
            </a:br>
            <a:r>
              <a:rPr lang="ru-RU" dirty="0" smtClean="0"/>
              <a:t>C) Позволяват повторна употреба на код</a:t>
            </a:r>
            <a:br>
              <a:rPr lang="ru-RU" dirty="0" smtClean="0"/>
            </a:br>
            <a:r>
              <a:rPr lang="ru-RU" dirty="0" smtClean="0"/>
              <a:t>D) Са по-бавни винаги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68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21.</a:t>
            </a:r>
            <a:r>
              <a:rPr lang="ru-RU" sz="3600" dirty="0" smtClean="0"/>
              <a:t> Кое е вярно за generics?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Работят само с числа</a:t>
            </a:r>
            <a:br>
              <a:rPr lang="ru-RU" dirty="0" smtClean="0"/>
            </a:br>
            <a:r>
              <a:rPr lang="ru-RU" dirty="0" smtClean="0"/>
              <a:t>B) Заменят делегатите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Позволяват повторна употреба на код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Са по-бавни винаги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Generics позволяват един и същ код да работи с различни типове. Това увеличава повторната употреба.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942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22.</a:t>
            </a:r>
            <a:r>
              <a:rPr lang="ru-RU" sz="3600" dirty="0" smtClean="0"/>
              <a:t> Какво е базов случай при рекурсия?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Първият елемент</a:t>
            </a:r>
            <a:br>
              <a:rPr lang="ru-RU" dirty="0" smtClean="0"/>
            </a:br>
            <a:r>
              <a:rPr lang="ru-RU" dirty="0" smtClean="0"/>
              <a:t>B) Последният елемент</a:t>
            </a:r>
            <a:br>
              <a:rPr lang="ru-RU" dirty="0" smtClean="0"/>
            </a:br>
            <a:r>
              <a:rPr lang="ru-RU" dirty="0" smtClean="0"/>
              <a:t>C) Условие за спиране</a:t>
            </a:r>
            <a:br>
              <a:rPr lang="ru-RU" dirty="0" smtClean="0"/>
            </a:br>
            <a:r>
              <a:rPr lang="ru-RU" dirty="0" smtClean="0"/>
              <a:t>D) Цикъл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11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22.</a:t>
            </a:r>
            <a:r>
              <a:rPr lang="ru-RU" sz="3600" dirty="0" smtClean="0"/>
              <a:t> Какво е базов случай при рекурсия?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Първият елемент</a:t>
            </a:r>
            <a:br>
              <a:rPr lang="ru-RU" dirty="0" smtClean="0"/>
            </a:br>
            <a:r>
              <a:rPr lang="ru-RU" dirty="0" smtClean="0"/>
              <a:t>B) Последният елемент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Условие за спиране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Цикъл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Базовият случай спира рекурсията. Без него се получава безкрайно извикване.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96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23.</a:t>
            </a:r>
            <a:r>
              <a:rPr lang="ru-RU" sz="3600" dirty="0" smtClean="0"/>
              <a:t> Какво означава head в списък?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Последният елемент</a:t>
            </a:r>
            <a:br>
              <a:rPr lang="ru-RU" dirty="0" smtClean="0"/>
            </a:br>
            <a:r>
              <a:rPr lang="ru-RU" dirty="0" smtClean="0"/>
              <a:t>B) Първият елемент</a:t>
            </a:r>
            <a:br>
              <a:rPr lang="ru-RU" dirty="0" smtClean="0"/>
            </a:br>
            <a:r>
              <a:rPr lang="ru-RU" dirty="0" smtClean="0"/>
              <a:t>C) Целият списък</a:t>
            </a:r>
            <a:br>
              <a:rPr lang="ru-RU" dirty="0" smtClean="0"/>
            </a:br>
            <a:r>
              <a:rPr lang="ru-RU" dirty="0" smtClean="0"/>
              <a:t>D) Празният списък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7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23.</a:t>
            </a:r>
            <a:r>
              <a:rPr lang="ru-RU" sz="3600" dirty="0" smtClean="0"/>
              <a:t> Какво означава head в списък?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Последният елемент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B) Първият елемент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C) Целият списък</a:t>
            </a:r>
            <a:br>
              <a:rPr lang="ru-RU" dirty="0" smtClean="0"/>
            </a:br>
            <a:r>
              <a:rPr lang="ru-RU" dirty="0" smtClean="0"/>
              <a:t>D) Празният списък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head е първият елемент на списъка. С него се работи във всяка рекурсивна стъпка.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14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24.</a:t>
            </a:r>
            <a:r>
              <a:rPr lang="ru-RU" sz="3600" dirty="0" smtClean="0"/>
              <a:t> Какво представлява </a:t>
            </a:r>
            <a:r>
              <a:rPr lang="en-US" sz="3600" dirty="0" smtClean="0"/>
              <a:t>tail?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Първият елемент</a:t>
            </a:r>
            <a:br>
              <a:rPr lang="ru-RU" dirty="0" smtClean="0"/>
            </a:br>
            <a:r>
              <a:rPr lang="ru-RU" dirty="0" smtClean="0"/>
              <a:t>B) Последният елемент</a:t>
            </a:r>
            <a:br>
              <a:rPr lang="ru-RU" dirty="0" smtClean="0"/>
            </a:br>
            <a:r>
              <a:rPr lang="ru-RU" dirty="0" smtClean="0"/>
              <a:t>C) Списък без първия елемент</a:t>
            </a:r>
            <a:br>
              <a:rPr lang="ru-RU" dirty="0" smtClean="0"/>
            </a:br>
            <a:r>
              <a:rPr lang="ru-RU" dirty="0" smtClean="0"/>
              <a:t>D) Празен списък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04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24.</a:t>
            </a:r>
            <a:r>
              <a:rPr lang="ru-RU" sz="3600" dirty="0" smtClean="0"/>
              <a:t> Какво представлява </a:t>
            </a:r>
            <a:r>
              <a:rPr lang="en-US" sz="3600" dirty="0" smtClean="0"/>
              <a:t>tail?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Първият елемент</a:t>
            </a:r>
            <a:br>
              <a:rPr lang="ru-RU" dirty="0" smtClean="0"/>
            </a:br>
            <a:r>
              <a:rPr lang="ru-RU" dirty="0" smtClean="0"/>
              <a:t>B) Последният елемент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C) Списък без първия елемент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D) Празен списък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tail е списъкът без първия елемент.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04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25.</a:t>
            </a:r>
            <a:r>
              <a:rPr lang="ru-RU" sz="3600" dirty="0" smtClean="0"/>
              <a:t> Какво е предимство на опашковата рекурсия?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По-лесен код</a:t>
            </a:r>
            <a:br>
              <a:rPr lang="ru-RU" dirty="0" smtClean="0"/>
            </a:br>
            <a:r>
              <a:rPr lang="ru-RU" dirty="0" smtClean="0"/>
              <a:t>B) По-малко памет</a:t>
            </a:r>
            <a:br>
              <a:rPr lang="ru-RU" dirty="0" smtClean="0"/>
            </a:br>
            <a:r>
              <a:rPr lang="ru-RU" dirty="0" smtClean="0"/>
              <a:t>C) Повече странични ефекти</a:t>
            </a:r>
            <a:br>
              <a:rPr lang="ru-RU" dirty="0" smtClean="0"/>
            </a:br>
            <a:r>
              <a:rPr lang="ru-RU" dirty="0" smtClean="0"/>
              <a:t>D) Повече променливи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74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7397"/>
            <a:ext cx="10515600" cy="1724932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25.</a:t>
            </a:r>
            <a:r>
              <a:rPr lang="ru-RU" sz="3600" dirty="0" smtClean="0"/>
              <a:t> Какво е предимство на опашковата рекурсия?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6387"/>
            <a:ext cx="10515600" cy="42291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A) По-лесен код</a:t>
            </a:r>
            <a:br>
              <a:rPr lang="ru-RU" dirty="0" smtClean="0"/>
            </a:br>
            <a:r>
              <a:rPr lang="ru-RU" dirty="0" smtClean="0"/>
              <a:t>B</a:t>
            </a:r>
            <a:r>
              <a:rPr lang="ru-RU" dirty="0" smtClean="0">
                <a:solidFill>
                  <a:srgbClr val="FF0000"/>
                </a:solidFill>
              </a:rPr>
              <a:t>) По-малко памет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C) Повече странични ефекти</a:t>
            </a:r>
            <a:br>
              <a:rPr lang="ru-RU" dirty="0" smtClean="0"/>
            </a:br>
            <a:r>
              <a:rPr lang="ru-RU" dirty="0" smtClean="0"/>
              <a:t>D) Повече променливи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Отговор:</a:t>
            </a:r>
          </a:p>
          <a:p>
            <a:pPr marL="0" indent="0">
              <a:buNone/>
            </a:pPr>
            <a:r>
              <a:rPr lang="ru-RU" dirty="0" smtClean="0"/>
              <a:t>Опашковата рекурсия може да се оптимизира и използва по-малко стек памет. Това е основното ѝ предимство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286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1047</Words>
  <Application>Microsoft Office PowerPoint</Application>
  <PresentationFormat>Widescreen</PresentationFormat>
  <Paragraphs>260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Bahnschrift Light</vt:lpstr>
      <vt:lpstr>Calibri</vt:lpstr>
      <vt:lpstr>Calibri Light</vt:lpstr>
      <vt:lpstr>Office Theme</vt:lpstr>
      <vt:lpstr>Тест 2</vt:lpstr>
      <vt:lpstr>1. Какво представлява Func&lt;int, int&gt;?</vt:lpstr>
      <vt:lpstr>1. Какво представлява Func&lt;int, int&gt;?</vt:lpstr>
      <vt:lpstr>2. Кое от следните е вярно за Action&lt;T&gt;?</vt:lpstr>
      <vt:lpstr>2. Кое от следните е вярно за Action&lt;T&gt;?</vt:lpstr>
      <vt:lpstr>3. Какъв е типът на ламбдата x =&gt; x.Length?</vt:lpstr>
      <vt:lpstr>3. Какъв е типът на ламбдата x =&gt; x.Length?</vt:lpstr>
      <vt:lpstr>4. Кое твърдение за Predicate&lt;T&gt; е вярно?</vt:lpstr>
      <vt:lpstr>4. Кое твърдение за Predicate&lt;T&gt; е вярно?</vt:lpstr>
      <vt:lpstr>5. Какъв ще е резултатът от:  Predicate&lt;int&gt; isEven = x =&gt; x % 2 == 0;  isEven(3);</vt:lpstr>
      <vt:lpstr>5. Какъв ще е резултатът от:  Predicate&lt;int&gt; isEven = x =&gt; x % 2 == 0;  isEven(3);</vt:lpstr>
      <vt:lpstr>6. Кое от следните е страничен ефект?  Action&lt;int&gt; addToList = x =&gt; list.Add(x);</vt:lpstr>
      <vt:lpstr>6. Кое от следните е страничен ефект?  Action&lt;int&gt; addToList = x =&gt; list.Add(x);</vt:lpstr>
      <vt:lpstr>7. Какво позволява комбинирането       hello + bye?</vt:lpstr>
      <vt:lpstr>7. Какво позволява комбинирането       hello + bye?</vt:lpstr>
      <vt:lpstr>8. Какъв е типът на Func&lt;int&gt;?</vt:lpstr>
      <vt:lpstr>8. Какъв е типът на Func&lt;int&gt;?</vt:lpstr>
      <vt:lpstr>9. Кое от следните НЕ е вярно за ламбда-изрази?</vt:lpstr>
      <vt:lpstr>9. Кое от следните НЕ е вярно за ламбда-изрази?</vt:lpstr>
      <vt:lpstr>10. Какъв е резултатът от:   Func&lt;int, int&gt; f = x =&gt; x * 2;   f(2);</vt:lpstr>
      <vt:lpstr>10. Какъв е резултатът от:   Func&lt;int, int&gt; f = x =&gt; x * 2;   f(2);</vt:lpstr>
      <vt:lpstr>11. Какво означава Compose(f, g)?   </vt:lpstr>
      <vt:lpstr>11. Какво означава Compose(f, g)?   </vt:lpstr>
      <vt:lpstr>12. Какъв е типът на Compose(ToDouble, ParseInt)?   </vt:lpstr>
      <vt:lpstr>12. Какъв е типът на Compose(ToDouble, ParseInt)?   </vt:lpstr>
      <vt:lpstr>13. Кое е вярно за композицията?</vt:lpstr>
      <vt:lpstr>13. Кое е вярно за композицията?</vt:lpstr>
      <vt:lpstr>14. Какъв ще е резултатът от:   Compose(AddVAT, ToDouble)(100)</vt:lpstr>
      <vt:lpstr>14. Какъв ще е резултатът от:   Compose(AddVAT, ToDouble)(100)</vt:lpstr>
      <vt:lpstr>15. Какво е предимство на композицията?</vt:lpstr>
      <vt:lpstr>15. Какво е предимство на композицията?</vt:lpstr>
      <vt:lpstr>16. Кое твърдение за Compose&lt;T1,T2,T3&gt; е вярно?</vt:lpstr>
      <vt:lpstr>16. Кое твърдение за Compose&lt;T1,T2,T3&gt; е вярно?</vt:lpstr>
      <vt:lpstr>17. Кое НЕ е вярно за композицията?</vt:lpstr>
      <vt:lpstr>17. Кое НЕ е вярно за композицията?</vt:lpstr>
      <vt:lpstr>18. Коя функция е чиста?</vt:lpstr>
      <vt:lpstr>18. Коя функция е чиста?</vt:lpstr>
      <vt:lpstr>19. Защо MultyNum&lt;T&gt; използва INumber&lt;T&gt;?          static T MultyNum&lt;T&gt;  where T : INumber&lt;T&gt;</vt:lpstr>
      <vt:lpstr>19. Защо MultyNum&lt;T&gt; използва INumber&lt;T&gt;?          static T MultyNum&lt;T&gt;  where T : INumber&lt;T&gt;</vt:lpstr>
      <vt:lpstr>20. Какво гарантира constraint   where T : IComparable&lt;T&gt;?</vt:lpstr>
      <vt:lpstr>20. Какво гарантира constraint where T : IComparable&lt;T&gt;?</vt:lpstr>
      <vt:lpstr>21. Кое е вярно за generics?</vt:lpstr>
      <vt:lpstr>21. Кое е вярно за generics?</vt:lpstr>
      <vt:lpstr>22. Какво е базов случай при рекурсия?</vt:lpstr>
      <vt:lpstr>22. Какво е базов случай при рекурсия?</vt:lpstr>
      <vt:lpstr>23. Какво означава head в списък?</vt:lpstr>
      <vt:lpstr>23. Какво означава head в списък?</vt:lpstr>
      <vt:lpstr>24. Какво представлява tail?</vt:lpstr>
      <vt:lpstr>24. Какво представлява tail?</vt:lpstr>
      <vt:lpstr>25. Какво е предимство на опашковата рекурсия?</vt:lpstr>
      <vt:lpstr>25. Какво е предимство на опашковата рекурсия?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 2</dc:title>
  <dc:creator>DesKo</dc:creator>
  <cp:lastModifiedBy>DesKo</cp:lastModifiedBy>
  <cp:revision>19</cp:revision>
  <dcterms:created xsi:type="dcterms:W3CDTF">2026-01-12T04:00:13Z</dcterms:created>
  <dcterms:modified xsi:type="dcterms:W3CDTF">2026-01-17T11:27:57Z</dcterms:modified>
</cp:coreProperties>
</file>