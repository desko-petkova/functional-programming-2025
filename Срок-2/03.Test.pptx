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9" r:id="rId5"/>
    <p:sldId id="266" r:id="rId6"/>
    <p:sldId id="267" r:id="rId7"/>
    <p:sldId id="262" r:id="rId8"/>
    <p:sldId id="263" r:id="rId9"/>
    <p:sldId id="264" r:id="rId10"/>
    <p:sldId id="265" r:id="rId11"/>
    <p:sldId id="260" r:id="rId12"/>
    <p:sldId id="261" r:id="rId13"/>
    <p:sldId id="268" r:id="rId14"/>
    <p:sldId id="269" r:id="rId15"/>
    <p:sldId id="270" r:id="rId16"/>
    <p:sldId id="275" r:id="rId17"/>
    <p:sldId id="272" r:id="rId18"/>
    <p:sldId id="276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6" r:id="rId28"/>
    <p:sldId id="287" r:id="rId29"/>
    <p:sldId id="283" r:id="rId30"/>
    <p:sldId id="285" r:id="rId31"/>
    <p:sldId id="288" r:id="rId32"/>
    <p:sldId id="296" r:id="rId33"/>
    <p:sldId id="290" r:id="rId34"/>
    <p:sldId id="297" r:id="rId35"/>
    <p:sldId id="292" r:id="rId36"/>
    <p:sldId id="298" r:id="rId37"/>
    <p:sldId id="294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5" r:id="rId54"/>
    <p:sldId id="314" r:id="rId55"/>
    <p:sldId id="31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7" d="100"/>
          <a:sy n="57" d="100"/>
        </p:scale>
        <p:origin x="53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4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9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2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17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8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2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9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0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6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69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79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41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09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486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83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812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573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021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298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38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49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2FBB2-702D-495E-9D30-928C46E14E2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3F26-3627-4373-B4BE-BCDD1DA0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5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1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ТЕСТ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РИКУРСИВНА ИНИЦИАЛИЗАЦИЯ и ОБРАБОТКА НА СПИСЪЦИ</a:t>
            </a:r>
          </a:p>
          <a:p>
            <a:r>
              <a:rPr lang="en-US" dirty="0" smtClean="0"/>
              <a:t>MAP – FILTER - FOLD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8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7031"/>
            <a:ext cx="10972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1.</a:t>
            </a:r>
            <a:r>
              <a:rPr lang="en-US" dirty="0" smtClean="0"/>
              <a:t>  </a:t>
            </a:r>
            <a:r>
              <a:rPr lang="ru-RU" dirty="0" smtClean="0"/>
              <a:t>Какво </a:t>
            </a:r>
            <a:r>
              <a:rPr lang="ru-RU" dirty="0"/>
              <a:t>е задължително условие за всяка рекурсивна функция?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63175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</a:t>
            </a:r>
            <a:r>
              <a:rPr dirty="0" err="1"/>
              <a:t>цикъл</a:t>
            </a:r>
            <a:endParaRPr dirty="0"/>
          </a:p>
          <a:p>
            <a:pPr marL="0" indent="0">
              <a:buNone/>
            </a:pPr>
            <a:r>
              <a:rPr dirty="0"/>
              <a:t>B)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има</a:t>
            </a:r>
            <a:r>
              <a:rPr dirty="0"/>
              <a:t> </a:t>
            </a:r>
            <a:r>
              <a:rPr dirty="0" err="1"/>
              <a:t>базов</a:t>
            </a:r>
            <a:r>
              <a:rPr dirty="0"/>
              <a:t> </a:t>
            </a:r>
            <a:r>
              <a:rPr dirty="0" err="1"/>
              <a:t>случай</a:t>
            </a:r>
            <a:endParaRPr dirty="0"/>
          </a:p>
          <a:p>
            <a:pPr marL="0" indent="0">
              <a:buNone/>
            </a:pPr>
            <a:r>
              <a:rPr dirty="0"/>
              <a:t>C)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List</a:t>
            </a:r>
          </a:p>
          <a:p>
            <a:pPr marL="0" indent="0">
              <a:buNone/>
            </a:pPr>
            <a:r>
              <a:rPr dirty="0"/>
              <a:t>D)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</a:t>
            </a:r>
            <a:r>
              <a:rPr dirty="0" err="1" smtClean="0"/>
              <a:t>Func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9113" y="554205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633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1"/>
            <a:ext cx="10972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1.</a:t>
            </a:r>
            <a:r>
              <a:rPr lang="en-US" dirty="0" smtClean="0"/>
              <a:t>  </a:t>
            </a:r>
            <a:r>
              <a:rPr lang="ru-RU" dirty="0" smtClean="0"/>
              <a:t>Какво </a:t>
            </a:r>
            <a:r>
              <a:rPr lang="ru-RU" dirty="0"/>
              <a:t>е задължително условие за всяка рекурсивна функция?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dirty="0" smtClean="0"/>
              <a:t>A</a:t>
            </a:r>
            <a:r>
              <a:rPr dirty="0"/>
              <a:t>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</a:t>
            </a:r>
            <a:r>
              <a:rPr dirty="0" err="1"/>
              <a:t>цикъл</a:t>
            </a:r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B) </a:t>
            </a:r>
            <a:r>
              <a:rPr dirty="0" err="1">
                <a:solidFill>
                  <a:srgbClr val="FF0000"/>
                </a:solidFill>
              </a:rPr>
              <a:t>Да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има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базов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случай</a:t>
            </a:r>
            <a:endParaRPr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/>
              <a:t>C)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List</a:t>
            </a:r>
          </a:p>
          <a:p>
            <a:pPr marL="0" indent="0">
              <a:buNone/>
            </a:pPr>
            <a:r>
              <a:rPr dirty="0"/>
              <a:t>D) </a:t>
            </a:r>
            <a:r>
              <a:rPr dirty="0" err="1"/>
              <a:t>Да</a:t>
            </a:r>
            <a:r>
              <a:rPr dirty="0"/>
              <a:t> </a:t>
            </a:r>
            <a:r>
              <a:rPr dirty="0" err="1"/>
              <a:t>използва</a:t>
            </a:r>
            <a:r>
              <a:rPr dirty="0"/>
              <a:t> </a:t>
            </a:r>
            <a:r>
              <a:rPr dirty="0" err="1" smtClean="0"/>
              <a:t>Func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Всяка рекурсивна функция трябва да има базов случай, който спира рекурсивните извиквания.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879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8735"/>
            <a:ext cx="10972800" cy="3716917"/>
          </a:xfrm>
        </p:spPr>
        <p:txBody>
          <a:bodyPr>
            <a:normAutofit/>
          </a:bodyPr>
          <a:lstStyle/>
          <a:p>
            <a:pPr algn="l"/>
            <a:r>
              <a:rPr lang="bg-BG" dirty="0"/>
              <a:t>2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Какво прави функцията </a:t>
            </a:r>
            <a:r>
              <a:rPr lang="en-US" dirty="0"/>
              <a:t>F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bg-BG" dirty="0" smtClean="0"/>
              <a:t>	</a:t>
            </a:r>
            <a:r>
              <a:rPr lang="en-US" sz="3200" dirty="0"/>
              <a:t>static </a:t>
            </a:r>
            <a:r>
              <a:rPr lang="en-US" sz="3200" dirty="0" err="1"/>
              <a:t>int</a:t>
            </a:r>
            <a:r>
              <a:rPr lang="en-US" sz="3200" dirty="0"/>
              <a:t> F(List&lt;</a:t>
            </a:r>
            <a:r>
              <a:rPr lang="en-US" sz="3200" dirty="0" err="1"/>
              <a:t>int</a:t>
            </a:r>
            <a:r>
              <a:rPr lang="en-US" sz="3200" dirty="0"/>
              <a:t>&gt; </a:t>
            </a:r>
            <a:r>
              <a:rPr lang="en-US" sz="3200" dirty="0" err="1"/>
              <a:t>xs</a:t>
            </a:r>
            <a:r>
              <a:rPr lang="en-US" sz="3200" dirty="0"/>
              <a:t>, 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 smtClean="0"/>
              <a:t>acc</a:t>
            </a:r>
            <a:r>
              <a:rPr lang="bg-BG" sz="3200" dirty="0" smtClean="0"/>
              <a:t> = 0</a:t>
            </a:r>
            <a:r>
              <a:rPr lang="en-US" sz="3200" dirty="0" smtClean="0"/>
              <a:t>)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	{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		if(</a:t>
            </a:r>
            <a:r>
              <a:rPr lang="en-US" sz="3200" dirty="0" err="1" smtClean="0"/>
              <a:t>xs.Count</a:t>
            </a:r>
            <a:r>
              <a:rPr lang="en-US" sz="3200" dirty="0" smtClean="0"/>
              <a:t> </a:t>
            </a:r>
            <a:r>
              <a:rPr lang="en-US" sz="3200" dirty="0"/>
              <a:t>== 0) return </a:t>
            </a:r>
            <a:r>
              <a:rPr lang="en-US" sz="3200" dirty="0" err="1"/>
              <a:t>acc</a:t>
            </a:r>
            <a:r>
              <a:rPr lang="en-US" sz="3200" dirty="0" smtClean="0"/>
              <a:t>;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		return </a:t>
            </a:r>
            <a:r>
              <a:rPr lang="en-US" sz="3200" dirty="0"/>
              <a:t>F(</a:t>
            </a:r>
            <a:r>
              <a:rPr lang="en-US" sz="3200" dirty="0" err="1"/>
              <a:t>xs.Skip</a:t>
            </a:r>
            <a:r>
              <a:rPr lang="en-US" sz="3200" dirty="0"/>
              <a:t>(1).</a:t>
            </a:r>
            <a:r>
              <a:rPr lang="en-US" sz="3200" dirty="0" err="1"/>
              <a:t>ToList</a:t>
            </a:r>
            <a:r>
              <a:rPr lang="en-US" sz="3200" dirty="0"/>
              <a:t>(), </a:t>
            </a:r>
            <a:r>
              <a:rPr lang="en-US" sz="3200" dirty="0" err="1"/>
              <a:t>acc</a:t>
            </a:r>
            <a:r>
              <a:rPr lang="en-US" sz="3200" dirty="0"/>
              <a:t> + 1);</a:t>
            </a:r>
            <a:br>
              <a:rPr lang="en-US" sz="3200" dirty="0"/>
            </a:br>
            <a:r>
              <a:rPr lang="en-US" sz="3200" dirty="0" smtClean="0"/>
              <a:t>	}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289728"/>
            <a:ext cx="5799151" cy="21389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A) Сумира елементите</a:t>
            </a:r>
            <a:br>
              <a:rPr lang="ru-RU" dirty="0"/>
            </a:br>
            <a:r>
              <a:rPr lang="ru-RU" dirty="0"/>
              <a:t>B) Намира максимум</a:t>
            </a:r>
            <a:br>
              <a:rPr lang="ru-RU" dirty="0"/>
            </a:br>
            <a:r>
              <a:rPr lang="ru-RU" dirty="0"/>
              <a:t>C) Брои елементите</a:t>
            </a:r>
            <a:br>
              <a:rPr lang="ru-RU" dirty="0"/>
            </a:br>
            <a:r>
              <a:rPr lang="ru-RU" dirty="0"/>
              <a:t>D) Филтрира четните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56322" y="5966964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359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3716917"/>
          </a:xfrm>
        </p:spPr>
        <p:txBody>
          <a:bodyPr>
            <a:normAutofit/>
          </a:bodyPr>
          <a:lstStyle/>
          <a:p>
            <a:pPr algn="l"/>
            <a:r>
              <a:rPr lang="bg-BG" dirty="0"/>
              <a:t>2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Какво прави функцията </a:t>
            </a:r>
            <a:r>
              <a:rPr lang="en-US" dirty="0"/>
              <a:t>F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bg-BG" dirty="0" smtClean="0"/>
              <a:t>	</a:t>
            </a:r>
            <a:r>
              <a:rPr lang="en-US" sz="3200" dirty="0"/>
              <a:t>static </a:t>
            </a:r>
            <a:r>
              <a:rPr lang="en-US" sz="3200" dirty="0" err="1"/>
              <a:t>int</a:t>
            </a:r>
            <a:r>
              <a:rPr lang="en-US" sz="3200" dirty="0"/>
              <a:t> F(List&lt;</a:t>
            </a:r>
            <a:r>
              <a:rPr lang="en-US" sz="3200" dirty="0" err="1"/>
              <a:t>int</a:t>
            </a:r>
            <a:r>
              <a:rPr lang="en-US" sz="3200" dirty="0"/>
              <a:t>&gt; </a:t>
            </a:r>
            <a:r>
              <a:rPr lang="en-US" sz="3200" dirty="0" err="1"/>
              <a:t>xs</a:t>
            </a:r>
            <a:r>
              <a:rPr lang="en-US" sz="3200" dirty="0"/>
              <a:t>, 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acc</a:t>
            </a:r>
            <a:r>
              <a:rPr lang="en-US" sz="3200" dirty="0"/>
              <a:t>)</a:t>
            </a:r>
            <a:br>
              <a:rPr lang="en-US" sz="3200" dirty="0"/>
            </a:br>
            <a:r>
              <a:rPr lang="en-US" sz="3200" dirty="0" smtClean="0"/>
              <a:t>	{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		if(</a:t>
            </a:r>
            <a:r>
              <a:rPr lang="en-US" sz="3200" dirty="0" err="1" smtClean="0"/>
              <a:t>xs.Count</a:t>
            </a:r>
            <a:r>
              <a:rPr lang="en-US" sz="3200" dirty="0" smtClean="0"/>
              <a:t> </a:t>
            </a:r>
            <a:r>
              <a:rPr lang="en-US" sz="3200" dirty="0"/>
              <a:t>== 0) return </a:t>
            </a:r>
            <a:r>
              <a:rPr lang="en-US" sz="3200" dirty="0" err="1"/>
              <a:t>acc</a:t>
            </a:r>
            <a:r>
              <a:rPr lang="en-US" sz="3200" dirty="0" smtClean="0"/>
              <a:t>;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		return </a:t>
            </a:r>
            <a:r>
              <a:rPr lang="en-US" sz="3200" dirty="0"/>
              <a:t>F(</a:t>
            </a:r>
            <a:r>
              <a:rPr lang="en-US" sz="3200" dirty="0" err="1"/>
              <a:t>xs.Skip</a:t>
            </a:r>
            <a:r>
              <a:rPr lang="en-US" sz="3200" dirty="0"/>
              <a:t>(1).</a:t>
            </a:r>
            <a:r>
              <a:rPr lang="en-US" sz="3200" dirty="0" err="1"/>
              <a:t>ToList</a:t>
            </a:r>
            <a:r>
              <a:rPr lang="en-US" sz="3200" dirty="0"/>
              <a:t>(), </a:t>
            </a:r>
            <a:r>
              <a:rPr lang="en-US" sz="3200" dirty="0" err="1"/>
              <a:t>acc</a:t>
            </a:r>
            <a:r>
              <a:rPr lang="en-US" sz="3200" dirty="0"/>
              <a:t> + 1);</a:t>
            </a:r>
            <a:br>
              <a:rPr lang="en-US" sz="3200" dirty="0"/>
            </a:br>
            <a:r>
              <a:rPr lang="en-US" sz="3200" dirty="0" smtClean="0"/>
              <a:t>	}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289728"/>
            <a:ext cx="4344063" cy="21389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A) Сумира елементите</a:t>
            </a:r>
            <a:br>
              <a:rPr lang="ru-RU" dirty="0"/>
            </a:br>
            <a:r>
              <a:rPr lang="ru-RU" dirty="0"/>
              <a:t>B) Намира максимум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C) Брои елементите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D) Филтрира четните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46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3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Какво е вярно за функцията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63175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/>
              <a:t>A) Променя оригиналния списък</a:t>
            </a:r>
          </a:p>
          <a:p>
            <a:pPr marL="0" indent="0">
              <a:buNone/>
            </a:pPr>
            <a:r>
              <a:rPr lang="ru-RU" dirty="0"/>
              <a:t>B) Винаги връща същия тип списък</a:t>
            </a:r>
          </a:p>
          <a:p>
            <a:pPr marL="0" indent="0">
              <a:buNone/>
            </a:pPr>
            <a:r>
              <a:rPr lang="ru-RU" dirty="0"/>
              <a:t>C) Връща нов списък със същия брой елементи</a:t>
            </a:r>
          </a:p>
          <a:p>
            <a:pPr marL="0" indent="0">
              <a:buNone/>
            </a:pPr>
            <a:r>
              <a:rPr lang="ru-RU" dirty="0"/>
              <a:t>D) Намалява броя на елементите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9113" y="554205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578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3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Какво е вярно за функцията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63175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/>
              <a:t>A) Променя оригиналния списък</a:t>
            </a:r>
          </a:p>
          <a:p>
            <a:pPr marL="0" indent="0">
              <a:buNone/>
            </a:pPr>
            <a:r>
              <a:rPr lang="ru-RU" dirty="0"/>
              <a:t>B) Винаги връща същия тип списък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C) Връща нов списък със същия брой елементи</a:t>
            </a:r>
          </a:p>
          <a:p>
            <a:pPr marL="0" indent="0">
              <a:buNone/>
            </a:pPr>
            <a:r>
              <a:rPr lang="ru-RU" dirty="0"/>
              <a:t>D) Намалява броя на елементите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73210" y="5414521"/>
            <a:ext cx="11094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Map прилага функция върху всеки елемент и връща нов списък със същата дължина.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5729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113" y="718600"/>
            <a:ext cx="10972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bg-BG" dirty="0" smtClean="0"/>
              <a:t>4</a:t>
            </a:r>
            <a:r>
              <a:rPr lang="ru-RU" dirty="0" smtClean="0"/>
              <a:t>.</a:t>
            </a:r>
            <a:r>
              <a:rPr lang="en-US" dirty="0" smtClean="0"/>
              <a:t>  </a:t>
            </a:r>
            <a:r>
              <a:rPr lang="ru-RU" dirty="0" smtClean="0"/>
              <a:t>Коя </a:t>
            </a:r>
            <a:r>
              <a:rPr lang="ru-RU" dirty="0"/>
              <a:t>характеристика описва опашковата рекурсия?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892" y="2260160"/>
            <a:ext cx="10972800" cy="363175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</a:t>
            </a:r>
            <a:r>
              <a:rPr lang="ru-RU" dirty="0"/>
              <a:t>) Рекурсивното извикване е първата операция</a:t>
            </a:r>
            <a:br>
              <a:rPr lang="ru-RU" dirty="0"/>
            </a:br>
            <a:r>
              <a:rPr lang="ru-RU" dirty="0"/>
              <a:t>B) Рекурсивното извикване е последната операция</a:t>
            </a:r>
            <a:br>
              <a:rPr lang="ru-RU" dirty="0"/>
            </a:br>
            <a:r>
              <a:rPr lang="ru-RU" dirty="0"/>
              <a:t>C) Има повече от един базов случай</a:t>
            </a:r>
            <a:br>
              <a:rPr lang="ru-RU" dirty="0"/>
            </a:br>
            <a:r>
              <a:rPr lang="ru-RU" dirty="0"/>
              <a:t>D) Използва глобални променливи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9113" y="554205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733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dirty="0" smtClean="0"/>
              <a:t>4</a:t>
            </a:r>
            <a:r>
              <a:rPr lang="ru-RU" dirty="0" smtClean="0"/>
              <a:t>.</a:t>
            </a:r>
            <a:r>
              <a:rPr lang="en-US" dirty="0" smtClean="0"/>
              <a:t>  </a:t>
            </a:r>
            <a:r>
              <a:rPr lang="ru-RU" dirty="0" smtClean="0"/>
              <a:t>Коя </a:t>
            </a:r>
            <a:r>
              <a:rPr lang="ru-RU" dirty="0"/>
              <a:t>характеристика описва опашковата рекурсия?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027458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/>
              <a:t>A) Рекурсивното извикване е първата операция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B) Рекурсивното извикване е последната операция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C) Има повече от един базов случай</a:t>
            </a:r>
            <a:br>
              <a:rPr lang="ru-RU" dirty="0"/>
            </a:br>
            <a:r>
              <a:rPr lang="ru-RU" dirty="0"/>
              <a:t>D) Използва глобални променливи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65259" y="5017273"/>
            <a:ext cx="10641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Рекурсията е опашкова, когато рекурсивното извикване е последната операция във функцията и резултатът му се връща директно."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486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3995212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5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Какъв е резултатът от функцията</a:t>
            </a:r>
            <a:r>
              <a:rPr lang="bg-BG" dirty="0" smtClean="0"/>
              <a:t>:</a:t>
            </a: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>	</a:t>
            </a:r>
            <a:r>
              <a:rPr lang="en-US" sz="3100" dirty="0" smtClean="0"/>
              <a:t>static </a:t>
            </a:r>
            <a:r>
              <a:rPr lang="en-US" sz="3100" dirty="0" err="1"/>
              <a:t>int</a:t>
            </a:r>
            <a:r>
              <a:rPr lang="en-US" sz="3100" dirty="0"/>
              <a:t> </a:t>
            </a:r>
            <a:r>
              <a:rPr lang="en-US" sz="3100" dirty="0" smtClean="0"/>
              <a:t>F (List&lt;</a:t>
            </a:r>
            <a:r>
              <a:rPr lang="en-US" sz="3100" dirty="0" err="1" smtClean="0"/>
              <a:t>int</a:t>
            </a:r>
            <a:r>
              <a:rPr lang="en-US" sz="3100" dirty="0"/>
              <a:t>&gt; list)</a:t>
            </a:r>
            <a:br>
              <a:rPr lang="en-US" sz="3100" dirty="0"/>
            </a:br>
            <a:r>
              <a:rPr lang="bg-BG" sz="3100" dirty="0" smtClean="0"/>
              <a:t>	</a:t>
            </a:r>
            <a:r>
              <a:rPr lang="en-US" sz="3100" dirty="0" smtClean="0"/>
              <a:t>{</a:t>
            </a:r>
            <a:r>
              <a:rPr lang="en-US" sz="3100" dirty="0"/>
              <a:t/>
            </a:r>
            <a:br>
              <a:rPr lang="en-US" sz="3100" dirty="0"/>
            </a:br>
            <a:r>
              <a:rPr lang="en-US" sz="3100" dirty="0"/>
              <a:t>   </a:t>
            </a:r>
            <a:r>
              <a:rPr lang="bg-BG" sz="3100" dirty="0" smtClean="0"/>
              <a:t>			</a:t>
            </a:r>
            <a:r>
              <a:rPr lang="en-US" sz="3100" dirty="0" smtClean="0"/>
              <a:t> </a:t>
            </a:r>
            <a:r>
              <a:rPr lang="en-US" sz="3100" dirty="0"/>
              <a:t>if(</a:t>
            </a:r>
            <a:r>
              <a:rPr lang="en-US" sz="3100" dirty="0" err="1"/>
              <a:t>list.Count</a:t>
            </a:r>
            <a:r>
              <a:rPr lang="en-US" sz="3100" dirty="0"/>
              <a:t> == 0) return 0;</a:t>
            </a:r>
            <a:br>
              <a:rPr lang="en-US" sz="3100" dirty="0"/>
            </a:br>
            <a:r>
              <a:rPr lang="en-US" sz="3100" dirty="0"/>
              <a:t>   </a:t>
            </a:r>
            <a:r>
              <a:rPr lang="bg-BG" sz="3100" dirty="0" smtClean="0"/>
              <a:t>			</a:t>
            </a:r>
            <a:r>
              <a:rPr lang="en-US" sz="3100" dirty="0" smtClean="0"/>
              <a:t> </a:t>
            </a:r>
            <a:r>
              <a:rPr lang="en-US" sz="3100" dirty="0"/>
              <a:t>return list[0] + </a:t>
            </a:r>
            <a:r>
              <a:rPr lang="en-US" sz="3100" dirty="0" smtClean="0"/>
              <a:t>F (</a:t>
            </a:r>
            <a:r>
              <a:rPr lang="en-US" sz="3100" dirty="0" err="1" smtClean="0"/>
              <a:t>list.Skip</a:t>
            </a:r>
            <a:r>
              <a:rPr lang="en-US" sz="3100" dirty="0" smtClean="0"/>
              <a:t>(1</a:t>
            </a:r>
            <a:r>
              <a:rPr lang="en-US" sz="3100" dirty="0"/>
              <a:t>).</a:t>
            </a:r>
            <a:r>
              <a:rPr lang="en-US" sz="3100" dirty="0" err="1"/>
              <a:t>ToList</a:t>
            </a:r>
            <a:r>
              <a:rPr lang="en-US" sz="3100" dirty="0"/>
              <a:t>());</a:t>
            </a:r>
            <a:br>
              <a:rPr lang="en-US" sz="3100" dirty="0"/>
            </a:br>
            <a:r>
              <a:rPr lang="bg-BG" sz="3100" dirty="0" smtClean="0"/>
              <a:t>	</a:t>
            </a:r>
            <a:r>
              <a:rPr lang="en-US" sz="3100" dirty="0" smtClean="0"/>
              <a:t>}</a:t>
            </a:r>
            <a:r>
              <a:rPr lang="en-US" sz="3100" dirty="0"/>
              <a:t/>
            </a:r>
            <a:br>
              <a:rPr lang="en-US" sz="3100" dirty="0"/>
            </a:br>
            <a:r>
              <a:rPr lang="bg-BG" sz="4000" dirty="0"/>
              <a:t>за списък {1,2,3}?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89120"/>
            <a:ext cx="1688327" cy="21389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A</a:t>
            </a:r>
            <a:r>
              <a:rPr lang="pt-BR" dirty="0"/>
              <a:t>) 3</a:t>
            </a:r>
          </a:p>
          <a:p>
            <a:pPr marL="0" indent="0">
              <a:buNone/>
            </a:pPr>
            <a:r>
              <a:rPr lang="pt-BR" dirty="0"/>
              <a:t>B) 5</a:t>
            </a:r>
          </a:p>
          <a:p>
            <a:pPr marL="0" indent="0">
              <a:buNone/>
            </a:pPr>
            <a:r>
              <a:rPr lang="pt-BR" dirty="0"/>
              <a:t>C) 6</a:t>
            </a:r>
          </a:p>
          <a:p>
            <a:pPr marL="0" indent="0">
              <a:buNone/>
            </a:pPr>
            <a:r>
              <a:rPr lang="pt-BR" dirty="0"/>
              <a:t>D) 0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727883" y="4897514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0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3995212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5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Какъв е резултатът от функцията</a:t>
            </a:r>
            <a:r>
              <a:rPr lang="bg-BG" dirty="0" smtClean="0"/>
              <a:t>:</a:t>
            </a: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>	</a:t>
            </a:r>
            <a:r>
              <a:rPr lang="en-US" sz="3100" dirty="0" smtClean="0"/>
              <a:t>static </a:t>
            </a:r>
            <a:r>
              <a:rPr lang="en-US" sz="3100" dirty="0" err="1"/>
              <a:t>int</a:t>
            </a:r>
            <a:r>
              <a:rPr lang="en-US" sz="3100" dirty="0"/>
              <a:t> </a:t>
            </a:r>
            <a:r>
              <a:rPr lang="en-US" sz="3100" dirty="0" smtClean="0"/>
              <a:t>F (List&lt;</a:t>
            </a:r>
            <a:r>
              <a:rPr lang="en-US" sz="3100" dirty="0" err="1" smtClean="0"/>
              <a:t>int</a:t>
            </a:r>
            <a:r>
              <a:rPr lang="en-US" sz="3100" dirty="0"/>
              <a:t>&gt; list)</a:t>
            </a:r>
            <a:br>
              <a:rPr lang="en-US" sz="3100" dirty="0"/>
            </a:br>
            <a:r>
              <a:rPr lang="bg-BG" sz="3100" dirty="0" smtClean="0"/>
              <a:t>	</a:t>
            </a:r>
            <a:r>
              <a:rPr lang="en-US" sz="3100" dirty="0" smtClean="0"/>
              <a:t>{</a:t>
            </a:r>
            <a:r>
              <a:rPr lang="en-US" sz="3100" dirty="0"/>
              <a:t/>
            </a:r>
            <a:br>
              <a:rPr lang="en-US" sz="3100" dirty="0"/>
            </a:br>
            <a:r>
              <a:rPr lang="en-US" sz="3100" dirty="0"/>
              <a:t>   </a:t>
            </a:r>
            <a:r>
              <a:rPr lang="bg-BG" sz="3100" dirty="0" smtClean="0"/>
              <a:t>			</a:t>
            </a:r>
            <a:r>
              <a:rPr lang="en-US" sz="3100" dirty="0" smtClean="0"/>
              <a:t> </a:t>
            </a:r>
            <a:r>
              <a:rPr lang="en-US" sz="3100" dirty="0"/>
              <a:t>if(</a:t>
            </a:r>
            <a:r>
              <a:rPr lang="en-US" sz="3100" dirty="0" err="1"/>
              <a:t>list.Count</a:t>
            </a:r>
            <a:r>
              <a:rPr lang="en-US" sz="3100" dirty="0"/>
              <a:t> == 0) return 0;</a:t>
            </a:r>
            <a:br>
              <a:rPr lang="en-US" sz="3100" dirty="0"/>
            </a:br>
            <a:r>
              <a:rPr lang="en-US" sz="3100" dirty="0"/>
              <a:t>   </a:t>
            </a:r>
            <a:r>
              <a:rPr lang="bg-BG" sz="3100" dirty="0" smtClean="0"/>
              <a:t>			</a:t>
            </a:r>
            <a:r>
              <a:rPr lang="en-US" sz="3100" dirty="0" smtClean="0"/>
              <a:t> </a:t>
            </a:r>
            <a:r>
              <a:rPr lang="en-US" sz="3100" dirty="0"/>
              <a:t>return list[0] + </a:t>
            </a:r>
            <a:r>
              <a:rPr lang="en-US" sz="3100" dirty="0" smtClean="0"/>
              <a:t>F (</a:t>
            </a:r>
            <a:r>
              <a:rPr lang="en-US" sz="3100" dirty="0" err="1" smtClean="0"/>
              <a:t>list.Skip</a:t>
            </a:r>
            <a:r>
              <a:rPr lang="en-US" sz="3100" dirty="0" smtClean="0"/>
              <a:t>(1</a:t>
            </a:r>
            <a:r>
              <a:rPr lang="en-US" sz="3100" dirty="0"/>
              <a:t>).</a:t>
            </a:r>
            <a:r>
              <a:rPr lang="en-US" sz="3100" dirty="0" err="1"/>
              <a:t>ToList</a:t>
            </a:r>
            <a:r>
              <a:rPr lang="en-US" sz="3100" dirty="0"/>
              <a:t>());</a:t>
            </a:r>
            <a:br>
              <a:rPr lang="en-US" sz="3100" dirty="0"/>
            </a:br>
            <a:r>
              <a:rPr lang="bg-BG" sz="3100" dirty="0" smtClean="0"/>
              <a:t>	</a:t>
            </a:r>
            <a:r>
              <a:rPr lang="en-US" sz="3100" dirty="0" smtClean="0"/>
              <a:t>}</a:t>
            </a:r>
            <a:r>
              <a:rPr lang="en-US" sz="3100" dirty="0"/>
              <a:t/>
            </a:r>
            <a:br>
              <a:rPr lang="en-US" sz="3100" dirty="0"/>
            </a:br>
            <a:r>
              <a:rPr lang="bg-BG" sz="4000" dirty="0"/>
              <a:t>за списък {1,2,3}?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89120"/>
            <a:ext cx="1688327" cy="213890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A</a:t>
            </a:r>
            <a:r>
              <a:rPr lang="pt-BR" dirty="0"/>
              <a:t>) 3</a:t>
            </a:r>
          </a:p>
          <a:p>
            <a:pPr marL="0" indent="0">
              <a:buNone/>
            </a:pPr>
            <a:r>
              <a:rPr lang="pt-BR" dirty="0"/>
              <a:t>B) 5</a:t>
            </a: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C) 6</a:t>
            </a:r>
          </a:p>
          <a:p>
            <a:pPr marL="0" indent="0">
              <a:buNone/>
            </a:pPr>
            <a:r>
              <a:rPr lang="pt-BR" dirty="0"/>
              <a:t>D) 0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835966" y="5342787"/>
            <a:ext cx="628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Функцията събира 1+2+3 = 6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24780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6.</a:t>
            </a:r>
            <a:r>
              <a:rPr lang="en-US" dirty="0" smtClean="0"/>
              <a:t> </a:t>
            </a:r>
            <a:r>
              <a:rPr lang="bg-BG" dirty="0"/>
              <a:t>Какво прави </a:t>
            </a:r>
            <a:r>
              <a:rPr lang="en-US" dirty="0"/>
              <a:t>Filter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08311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</a:t>
            </a:r>
            <a:r>
              <a:rPr lang="ru-RU" dirty="0"/>
              <a:t>) Преобразува елементи</a:t>
            </a:r>
          </a:p>
          <a:p>
            <a:pPr marL="0" indent="0">
              <a:buNone/>
            </a:pPr>
            <a:r>
              <a:rPr lang="ru-RU" dirty="0"/>
              <a:t>B) Избира елементи по условие</a:t>
            </a:r>
          </a:p>
          <a:p>
            <a:pPr marL="0" indent="0">
              <a:buNone/>
            </a:pPr>
            <a:r>
              <a:rPr lang="ru-RU" dirty="0"/>
              <a:t>C) Сумира</a:t>
            </a:r>
          </a:p>
          <a:p>
            <a:pPr marL="0" indent="0">
              <a:buNone/>
            </a:pPr>
            <a:r>
              <a:rPr lang="ru-RU" dirty="0"/>
              <a:t>D) Сортира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65258" y="5025224"/>
            <a:ext cx="8319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7441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6.</a:t>
            </a:r>
            <a:r>
              <a:rPr lang="en-US" dirty="0" smtClean="0"/>
              <a:t> </a:t>
            </a:r>
            <a:r>
              <a:rPr lang="bg-BG" dirty="0"/>
              <a:t>Какво прави </a:t>
            </a:r>
            <a:r>
              <a:rPr lang="en-US" dirty="0"/>
              <a:t>Filter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08311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</a:t>
            </a:r>
            <a:r>
              <a:rPr lang="ru-RU" dirty="0"/>
              <a:t>) Преобразува елементи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B) Избира елементи по условие</a:t>
            </a:r>
          </a:p>
          <a:p>
            <a:pPr marL="0" indent="0">
              <a:buNone/>
            </a:pPr>
            <a:r>
              <a:rPr lang="ru-RU" dirty="0"/>
              <a:t>C) Сумира</a:t>
            </a:r>
          </a:p>
          <a:p>
            <a:pPr marL="0" indent="0">
              <a:buNone/>
            </a:pPr>
            <a:r>
              <a:rPr lang="ru-RU" dirty="0"/>
              <a:t>D) Сортира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65258" y="5025224"/>
            <a:ext cx="990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Filter оставя само елементите, които отговарят на условието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7777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7.</a:t>
            </a:r>
            <a:r>
              <a:rPr lang="en-US" dirty="0" smtClean="0"/>
              <a:t> </a:t>
            </a:r>
            <a:r>
              <a:rPr lang="ru-RU" dirty="0"/>
              <a:t>Кое е вярно за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63175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/>
              <a:t>A) Може да промени типа на елементите</a:t>
            </a:r>
            <a:br>
              <a:rPr lang="ru-RU" dirty="0"/>
            </a:br>
            <a:r>
              <a:rPr lang="ru-RU" dirty="0"/>
              <a:t>B) Винаги връща int</a:t>
            </a:r>
            <a:br>
              <a:rPr lang="ru-RU" dirty="0"/>
            </a:br>
            <a:r>
              <a:rPr lang="ru-RU" dirty="0"/>
              <a:t>C) Премахва елементи</a:t>
            </a:r>
            <a:br>
              <a:rPr lang="ru-RU" dirty="0"/>
            </a:br>
            <a:r>
              <a:rPr lang="ru-RU" dirty="0"/>
              <a:t>D) Връща един резултат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9113" y="554205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312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7.</a:t>
            </a:r>
            <a:r>
              <a:rPr lang="en-US" dirty="0" smtClean="0"/>
              <a:t> </a:t>
            </a:r>
            <a:r>
              <a:rPr lang="ru-RU" dirty="0"/>
              <a:t>Кое е вярно за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971799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A) Може да промени типа на елементите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/>
              <a:t>B) Винаги връща int</a:t>
            </a:r>
            <a:br>
              <a:rPr lang="ru-RU" dirty="0"/>
            </a:br>
            <a:r>
              <a:rPr lang="ru-RU" dirty="0"/>
              <a:t>C) Премахва елементи</a:t>
            </a:r>
            <a:br>
              <a:rPr lang="ru-RU" dirty="0"/>
            </a:br>
            <a:r>
              <a:rPr lang="ru-RU" dirty="0"/>
              <a:t>D) Връща един </a:t>
            </a:r>
            <a:r>
              <a:rPr lang="ru-RU" dirty="0" smtClean="0"/>
              <a:t>резултат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1162" y="4858247"/>
            <a:ext cx="9727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Map може да преобразува тип T в тип R.</a:t>
            </a:r>
            <a:r>
              <a:rPr lang="bg-BG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2642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888117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8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Какво прави: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	</a:t>
            </a:r>
            <a:r>
              <a:rPr lang="en-US" sz="4000" dirty="0"/>
              <a:t> </a:t>
            </a:r>
            <a:r>
              <a:rPr lang="en-US" sz="3200" dirty="0"/>
              <a:t>Filter(words, w =&gt; </a:t>
            </a:r>
            <a:r>
              <a:rPr lang="en-US" sz="3200" dirty="0" err="1"/>
              <a:t>w.Length</a:t>
            </a:r>
            <a:r>
              <a:rPr lang="en-US" sz="3200" dirty="0"/>
              <a:t> &gt; 3)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918" y="2635857"/>
            <a:ext cx="7842637" cy="303342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A) връща всички думи</a:t>
            </a:r>
            <a:br>
              <a:rPr lang="ru-RU" dirty="0"/>
            </a:br>
            <a:r>
              <a:rPr lang="ru-RU" dirty="0"/>
              <a:t>B) връща думи по-дълги от </a:t>
            </a:r>
            <a:r>
              <a:rPr lang="ru-RU" dirty="0" smtClean="0"/>
              <a:t>3 символа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C) връща </a:t>
            </a:r>
            <a:r>
              <a:rPr lang="ru-RU" dirty="0" smtClean="0"/>
              <a:t>дължините на думите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D) сортира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942568" y="526724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971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888117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8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Какво прави: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	</a:t>
            </a:r>
            <a:r>
              <a:rPr lang="en-US" sz="4000" dirty="0"/>
              <a:t> </a:t>
            </a:r>
            <a:r>
              <a:rPr lang="en-US" sz="3200" dirty="0"/>
              <a:t>Filter(words, w =&gt; </a:t>
            </a:r>
            <a:r>
              <a:rPr lang="en-US" sz="3200" dirty="0" err="1"/>
              <a:t>w.Length</a:t>
            </a:r>
            <a:r>
              <a:rPr lang="en-US" sz="3200" dirty="0"/>
              <a:t> &gt; 3)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917" y="2635856"/>
            <a:ext cx="7794930" cy="29141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A) връща всички думи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B) връща думи по-дълги от </a:t>
            </a:r>
            <a:r>
              <a:rPr lang="ru-RU" dirty="0" smtClean="0">
                <a:solidFill>
                  <a:srgbClr val="FF0000"/>
                </a:solidFill>
              </a:rPr>
              <a:t>3 символа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C) връща </a:t>
            </a:r>
            <a:r>
              <a:rPr lang="ru-RU" dirty="0" smtClean="0"/>
              <a:t>дължините на думите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D) сортира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332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9.</a:t>
            </a:r>
            <a:r>
              <a:rPr lang="en-US" dirty="0" smtClean="0"/>
              <a:t> </a:t>
            </a:r>
            <a:r>
              <a:rPr lang="ru-RU" dirty="0"/>
              <a:t>Кое е вярно за Filter?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63175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ru-RU" dirty="0"/>
              <a:t>A) Намалява броя на елементите</a:t>
            </a:r>
          </a:p>
          <a:p>
            <a:pPr marL="0" indent="0">
              <a:buNone/>
            </a:pPr>
            <a:r>
              <a:rPr lang="ru-RU" dirty="0"/>
              <a:t>B) Увеличава броя</a:t>
            </a:r>
          </a:p>
          <a:p>
            <a:pPr marL="0" indent="0">
              <a:buNone/>
            </a:pPr>
            <a:r>
              <a:rPr lang="ru-RU" dirty="0"/>
              <a:t>C) Винаги връща bool</a:t>
            </a:r>
          </a:p>
          <a:p>
            <a:pPr marL="0" indent="0">
              <a:buNone/>
            </a:pPr>
            <a:r>
              <a:rPr lang="ru-RU" dirty="0"/>
              <a:t>D) Връща един елемент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9113" y="5542059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4096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9.</a:t>
            </a:r>
            <a:r>
              <a:rPr lang="en-US" dirty="0" smtClean="0"/>
              <a:t> </a:t>
            </a:r>
            <a:r>
              <a:rPr lang="ru-RU" dirty="0"/>
              <a:t>Кое е вярно за Filter?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53447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FF0000"/>
                </a:solidFill>
              </a:rPr>
              <a:t>A</a:t>
            </a:r>
            <a:r>
              <a:rPr lang="ru-RU" dirty="0">
                <a:solidFill>
                  <a:srgbClr val="FF0000"/>
                </a:solidFill>
              </a:rPr>
              <a:t>) Намалява броя на елементите</a:t>
            </a:r>
          </a:p>
          <a:p>
            <a:pPr marL="0" indent="0">
              <a:buNone/>
            </a:pPr>
            <a:r>
              <a:rPr lang="ru-RU" dirty="0"/>
              <a:t>B) Увеличава броя</a:t>
            </a:r>
          </a:p>
          <a:p>
            <a:pPr marL="0" indent="0">
              <a:buNone/>
            </a:pPr>
            <a:r>
              <a:rPr lang="ru-RU" dirty="0"/>
              <a:t>C) Винаги връща bool</a:t>
            </a:r>
          </a:p>
          <a:p>
            <a:pPr marL="0" indent="0">
              <a:buNone/>
            </a:pPr>
            <a:r>
              <a:rPr lang="ru-RU" dirty="0"/>
              <a:t>D) Връща един елемент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73210" y="4866198"/>
            <a:ext cx="778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Filter може да върне по-малко елементи.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4321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10.</a:t>
            </a:r>
            <a:r>
              <a:rPr lang="en-US" dirty="0" smtClean="0"/>
              <a:t> </a:t>
            </a:r>
            <a:r>
              <a:rPr lang="bg-BG" dirty="0"/>
              <a:t>Какво връща </a:t>
            </a:r>
            <a:r>
              <a:rPr lang="en-US" dirty="0"/>
              <a:t>Fold?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</a:t>
            </a:r>
            <a:r>
              <a:rPr lang="ru-RU" dirty="0"/>
              <a:t>) Списък</a:t>
            </a:r>
          </a:p>
          <a:p>
            <a:pPr marL="0" indent="0">
              <a:buNone/>
            </a:pPr>
            <a:r>
              <a:rPr lang="ru-RU" dirty="0"/>
              <a:t>B) Елемент</a:t>
            </a:r>
          </a:p>
          <a:p>
            <a:pPr marL="0" indent="0">
              <a:buNone/>
            </a:pPr>
            <a:r>
              <a:rPr lang="ru-RU" dirty="0"/>
              <a:t>C) Една стойност</a:t>
            </a:r>
          </a:p>
          <a:p>
            <a:pPr marL="0" indent="0">
              <a:buNone/>
            </a:pPr>
            <a:r>
              <a:rPr lang="ru-RU" dirty="0"/>
              <a:t>D) bool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6" y="4921857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714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10.</a:t>
            </a:r>
            <a:r>
              <a:rPr lang="en-US" dirty="0" smtClean="0"/>
              <a:t> </a:t>
            </a:r>
            <a:r>
              <a:rPr lang="bg-BG" dirty="0"/>
              <a:t>Какво връща </a:t>
            </a:r>
            <a:r>
              <a:rPr lang="en-US" dirty="0"/>
              <a:t>Fold?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</a:t>
            </a:r>
            <a:r>
              <a:rPr lang="ru-RU" dirty="0"/>
              <a:t>) Списък</a:t>
            </a:r>
          </a:p>
          <a:p>
            <a:pPr marL="0" indent="0">
              <a:buNone/>
            </a:pPr>
            <a:r>
              <a:rPr lang="ru-RU" dirty="0"/>
              <a:t>B) Елемент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C) Една стойност</a:t>
            </a:r>
          </a:p>
          <a:p>
            <a:pPr marL="0" indent="0">
              <a:buNone/>
            </a:pPr>
            <a:r>
              <a:rPr lang="ru-RU" dirty="0"/>
              <a:t>D) bool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6" y="4921857"/>
            <a:ext cx="8963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Fold редуцира списък до една стойност.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38152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648350"/>
            <a:ext cx="10768717" cy="1371281"/>
          </a:xfrm>
        </p:spPr>
        <p:txBody>
          <a:bodyPr>
            <a:normAutofit fontScale="90000"/>
          </a:bodyPr>
          <a:lstStyle/>
          <a:p>
            <a:pPr algn="l"/>
            <a:r>
              <a:rPr lang="bg-BG" dirty="0" smtClean="0"/>
              <a:t>11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Какъв е резултатът: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	</a:t>
            </a:r>
            <a:r>
              <a:rPr lang="en-US" sz="3600" dirty="0" smtClean="0"/>
              <a:t>Map</a:t>
            </a:r>
            <a:r>
              <a:rPr lang="en-US" sz="3600" dirty="0"/>
              <a:t>(["</a:t>
            </a:r>
            <a:r>
              <a:rPr lang="en-US" sz="3600" dirty="0" err="1"/>
              <a:t>a","bb","ccc</a:t>
            </a:r>
            <a:r>
              <a:rPr lang="en-US" sz="3600" dirty="0"/>
              <a:t>"], x =&gt; </a:t>
            </a:r>
            <a:r>
              <a:rPr lang="en-US" sz="3600" dirty="0" err="1"/>
              <a:t>x.Length</a:t>
            </a:r>
            <a:r>
              <a:rPr lang="en-US" sz="3600" dirty="0" smtClean="0"/>
              <a:t>)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918" y="2635857"/>
            <a:ext cx="7842637" cy="303342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{"</a:t>
            </a:r>
            <a:r>
              <a:rPr lang="en-US" dirty="0" err="1"/>
              <a:t>a","bb","ccc</a:t>
            </a:r>
            <a:r>
              <a:rPr lang="en-US" dirty="0"/>
              <a:t>"}</a:t>
            </a:r>
          </a:p>
          <a:p>
            <a:pPr marL="0" indent="0">
              <a:buNone/>
            </a:pPr>
            <a:r>
              <a:rPr lang="en-US" dirty="0"/>
              <a:t>B) {1,2,3}</a:t>
            </a:r>
          </a:p>
          <a:p>
            <a:pPr marL="0" indent="0">
              <a:buNone/>
            </a:pPr>
            <a:r>
              <a:rPr lang="en-US" dirty="0"/>
              <a:t>C) {"1","2","3"}</a:t>
            </a:r>
          </a:p>
          <a:p>
            <a:pPr marL="0" indent="0">
              <a:buNone/>
            </a:pPr>
            <a:r>
              <a:rPr lang="en-US" dirty="0"/>
              <a:t>D) {3,2,1}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92426" y="5207615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9416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648350"/>
            <a:ext cx="10768717" cy="1371281"/>
          </a:xfrm>
        </p:spPr>
        <p:txBody>
          <a:bodyPr>
            <a:normAutofit fontScale="90000"/>
          </a:bodyPr>
          <a:lstStyle/>
          <a:p>
            <a:pPr algn="l"/>
            <a:r>
              <a:rPr lang="bg-BG" dirty="0" smtClean="0"/>
              <a:t>11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bg-BG" dirty="0"/>
              <a:t>Какъв е резултатът: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	</a:t>
            </a:r>
            <a:r>
              <a:rPr lang="en-US" sz="3600" dirty="0" smtClean="0"/>
              <a:t>Map</a:t>
            </a:r>
            <a:r>
              <a:rPr lang="en-US" sz="3600" dirty="0"/>
              <a:t>(["</a:t>
            </a:r>
            <a:r>
              <a:rPr lang="en-US" sz="3600" dirty="0" err="1"/>
              <a:t>a","bb","ccc</a:t>
            </a:r>
            <a:r>
              <a:rPr lang="en-US" sz="3600" dirty="0"/>
              <a:t>"], x =&gt; </a:t>
            </a:r>
            <a:r>
              <a:rPr lang="en-US" sz="3600" dirty="0" err="1"/>
              <a:t>x.Length</a:t>
            </a:r>
            <a:r>
              <a:rPr lang="en-US" sz="3600" dirty="0" smtClean="0"/>
              <a:t>)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918" y="2635858"/>
            <a:ext cx="6816919" cy="25404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{"</a:t>
            </a:r>
            <a:r>
              <a:rPr lang="en-US" dirty="0" err="1"/>
              <a:t>a","bb","ccc</a:t>
            </a:r>
            <a:r>
              <a:rPr lang="en-US" dirty="0"/>
              <a:t>"}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{1,2,3}</a:t>
            </a:r>
          </a:p>
          <a:p>
            <a:pPr marL="0" indent="0">
              <a:buNone/>
            </a:pPr>
            <a:r>
              <a:rPr lang="en-US" dirty="0"/>
              <a:t>C) {"1","2","3"}</a:t>
            </a:r>
          </a:p>
          <a:p>
            <a:pPr marL="0" indent="0">
              <a:buNone/>
            </a:pPr>
            <a:r>
              <a:rPr lang="en-US" dirty="0"/>
              <a:t>D) {3,2,1}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2480" y="5648912"/>
            <a:ext cx="6673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Дължините на стринговете са 1,2,3.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0820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12.</a:t>
            </a:r>
            <a:r>
              <a:rPr lang="en-US" dirty="0" smtClean="0"/>
              <a:t> </a:t>
            </a:r>
            <a:r>
              <a:rPr lang="bg-BG" dirty="0"/>
              <a:t>Какъв тип функция използва </a:t>
            </a:r>
            <a:r>
              <a:rPr lang="en-US" dirty="0"/>
              <a:t>Filter?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A) </a:t>
            </a:r>
            <a:r>
              <a:rPr lang="fr-FR" dirty="0" err="1"/>
              <a:t>Func</a:t>
            </a:r>
            <a:r>
              <a:rPr lang="fr-FR" dirty="0"/>
              <a:t>&lt;T,T&gt;</a:t>
            </a:r>
          </a:p>
          <a:p>
            <a:pPr marL="0" indent="0">
              <a:buNone/>
            </a:pPr>
            <a:r>
              <a:rPr lang="fr-FR" dirty="0"/>
              <a:t>B) </a:t>
            </a:r>
            <a:r>
              <a:rPr lang="fr-FR" dirty="0" err="1"/>
              <a:t>Predicate</a:t>
            </a:r>
            <a:r>
              <a:rPr lang="fr-FR" dirty="0"/>
              <a:t>&lt;T&gt;</a:t>
            </a:r>
          </a:p>
          <a:p>
            <a:pPr marL="0" indent="0">
              <a:buNone/>
            </a:pPr>
            <a:r>
              <a:rPr lang="fr-FR" dirty="0"/>
              <a:t>C) Action&lt;T&gt;</a:t>
            </a:r>
          </a:p>
          <a:p>
            <a:pPr marL="0" indent="0">
              <a:buNone/>
            </a:pPr>
            <a:r>
              <a:rPr lang="fr-FR" dirty="0"/>
              <a:t>D) </a:t>
            </a:r>
            <a:r>
              <a:rPr lang="fr-FR" dirty="0" err="1"/>
              <a:t>Func</a:t>
            </a:r>
            <a:r>
              <a:rPr lang="fr-FR" dirty="0"/>
              <a:t>&lt;List&lt;T&gt;&gt;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6" y="4921857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7476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12.</a:t>
            </a:r>
            <a:r>
              <a:rPr lang="en-US" dirty="0" smtClean="0"/>
              <a:t> </a:t>
            </a:r>
            <a:r>
              <a:rPr lang="bg-BG" dirty="0"/>
              <a:t>Какъв тип функция използва </a:t>
            </a:r>
            <a:r>
              <a:rPr lang="en-US" dirty="0"/>
              <a:t>Filter?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A) </a:t>
            </a:r>
            <a:r>
              <a:rPr lang="fr-FR" dirty="0" err="1"/>
              <a:t>Func</a:t>
            </a:r>
            <a:r>
              <a:rPr lang="fr-FR" dirty="0"/>
              <a:t>&lt;T,T&gt;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B) </a:t>
            </a:r>
            <a:r>
              <a:rPr lang="fr-FR" dirty="0" err="1">
                <a:solidFill>
                  <a:srgbClr val="FF0000"/>
                </a:solidFill>
              </a:rPr>
              <a:t>Predicate</a:t>
            </a:r>
            <a:r>
              <a:rPr lang="fr-FR" dirty="0">
                <a:solidFill>
                  <a:srgbClr val="FF0000"/>
                </a:solidFill>
              </a:rPr>
              <a:t>&lt;T&gt;</a:t>
            </a:r>
          </a:p>
          <a:p>
            <a:pPr marL="0" indent="0">
              <a:buNone/>
            </a:pPr>
            <a:r>
              <a:rPr lang="fr-FR" dirty="0"/>
              <a:t>C) Action&lt;T&gt;</a:t>
            </a:r>
          </a:p>
          <a:p>
            <a:pPr marL="0" indent="0">
              <a:buNone/>
            </a:pPr>
            <a:r>
              <a:rPr lang="fr-FR" dirty="0"/>
              <a:t>D) </a:t>
            </a:r>
            <a:r>
              <a:rPr lang="fr-FR" dirty="0" err="1"/>
              <a:t>Func</a:t>
            </a:r>
            <a:r>
              <a:rPr lang="fr-FR" dirty="0"/>
              <a:t>&lt;List&lt;T&gt;&gt;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5" y="4921857"/>
            <a:ext cx="4972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Predicate&lt;T&gt; </a:t>
            </a:r>
            <a:r>
              <a:rPr lang="bg-BG" sz="2400" dirty="0" smtClean="0"/>
              <a:t>връща </a:t>
            </a:r>
            <a:r>
              <a:rPr lang="en-US" sz="2400" dirty="0" smtClean="0"/>
              <a:t>bool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3197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648350"/>
            <a:ext cx="10768717" cy="1371281"/>
          </a:xfrm>
        </p:spPr>
        <p:txBody>
          <a:bodyPr>
            <a:normAutofit/>
          </a:bodyPr>
          <a:lstStyle/>
          <a:p>
            <a:pPr algn="l"/>
            <a:r>
              <a:rPr lang="bg-BG" sz="3600" dirty="0" smtClean="0"/>
              <a:t>13</a:t>
            </a:r>
            <a:r>
              <a:rPr lang="ru-RU" sz="3600" dirty="0" smtClean="0"/>
              <a:t>.</a:t>
            </a:r>
            <a:r>
              <a:rPr lang="en-US" sz="3600" dirty="0" smtClean="0"/>
              <a:t> </a:t>
            </a:r>
            <a:r>
              <a:rPr lang="en-US" sz="3600" dirty="0"/>
              <a:t>Filter([1,2,3,4], x=&gt;x%2==0) </a:t>
            </a:r>
            <a:r>
              <a:rPr lang="bg-BG" sz="3600" dirty="0"/>
              <a:t>връща</a:t>
            </a:r>
            <a:r>
              <a:rPr lang="bg-BG" sz="3600" dirty="0" smtClean="0"/>
              <a:t>: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966" y="2389367"/>
            <a:ext cx="6816919" cy="25404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{1,3}</a:t>
            </a:r>
          </a:p>
          <a:p>
            <a:pPr marL="0" indent="0">
              <a:buNone/>
            </a:pPr>
            <a:r>
              <a:rPr lang="en-US" dirty="0"/>
              <a:t>B) {2,4}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bg-BG" dirty="0" smtClean="0"/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{4}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29385" y="4468144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3579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6" y="648350"/>
            <a:ext cx="10768717" cy="1371281"/>
          </a:xfrm>
        </p:spPr>
        <p:txBody>
          <a:bodyPr>
            <a:normAutofit/>
          </a:bodyPr>
          <a:lstStyle/>
          <a:p>
            <a:pPr algn="l"/>
            <a:r>
              <a:rPr lang="bg-BG" sz="3600" dirty="0" smtClean="0"/>
              <a:t>13</a:t>
            </a:r>
            <a:r>
              <a:rPr lang="ru-RU" sz="3600" dirty="0" smtClean="0"/>
              <a:t>.</a:t>
            </a:r>
            <a:r>
              <a:rPr lang="en-US" sz="3600" dirty="0" smtClean="0"/>
              <a:t> </a:t>
            </a:r>
            <a:r>
              <a:rPr lang="en-US" sz="3600" dirty="0"/>
              <a:t>Filter([1,2,3,4], x=&gt;x%2==0) </a:t>
            </a:r>
            <a:r>
              <a:rPr lang="bg-BG" sz="3600" dirty="0"/>
              <a:t>връща</a:t>
            </a:r>
            <a:r>
              <a:rPr lang="bg-BG" sz="3600" dirty="0" smtClean="0"/>
              <a:t>: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138" y="2389367"/>
            <a:ext cx="6816919" cy="25404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{1,3}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{2,4}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bg-BG" dirty="0" smtClean="0"/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{4}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137" y="5589278"/>
            <a:ext cx="7230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Извежда на четните числа в нов списък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2990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14.</a:t>
            </a:r>
            <a:r>
              <a:rPr lang="en-US" dirty="0" smtClean="0"/>
              <a:t> </a:t>
            </a:r>
            <a:r>
              <a:rPr lang="ru-RU" dirty="0"/>
              <a:t>Какъв е типът на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List&lt;T&gt; → T</a:t>
            </a:r>
          </a:p>
          <a:p>
            <a:pPr marL="0" indent="0">
              <a:buNone/>
            </a:pPr>
            <a:r>
              <a:rPr lang="en-US" dirty="0"/>
              <a:t>B) List&lt;T&gt; → List&lt;T&gt;</a:t>
            </a:r>
          </a:p>
          <a:p>
            <a:pPr marL="0" indent="0">
              <a:buNone/>
            </a:pPr>
            <a:r>
              <a:rPr lang="en-US" dirty="0"/>
              <a:t>C) List&lt;T&gt; → </a:t>
            </a:r>
            <a:r>
              <a:rPr lang="en-US" dirty="0" err="1"/>
              <a:t>Func</a:t>
            </a:r>
            <a:r>
              <a:rPr lang="en-US" dirty="0"/>
              <a:t>&lt;T,R&gt; → List&lt;R&gt;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Func</a:t>
            </a:r>
            <a:r>
              <a:rPr lang="en-US" dirty="0"/>
              <a:t>&lt;T&gt; → List&lt;T&gt;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6" y="4921857"/>
            <a:ext cx="8685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/>
              <a:t>Точки: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2025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/>
              <a:t>14.</a:t>
            </a:r>
            <a:r>
              <a:rPr lang="en-US" dirty="0" smtClean="0"/>
              <a:t> </a:t>
            </a:r>
            <a:r>
              <a:rPr lang="ru-RU" dirty="0"/>
              <a:t>Какъв е типът на Map?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7730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List&lt;T&gt; → T</a:t>
            </a:r>
          </a:p>
          <a:p>
            <a:pPr marL="0" indent="0">
              <a:buNone/>
            </a:pPr>
            <a:r>
              <a:rPr lang="en-US" dirty="0"/>
              <a:t>B) List&lt;T&gt; → List&lt;T&gt;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List&lt;T&gt; →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&lt;T,R&gt; → List&lt;R&gt;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Func</a:t>
            </a:r>
            <a:r>
              <a:rPr lang="en-US" dirty="0"/>
              <a:t>&lt;T&gt; → List&lt;T&gt;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05016" y="4921857"/>
            <a:ext cx="8685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Map приема списък и функция и връща нов списък.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15608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 smtClean="0"/>
              <a:t>15. </a:t>
            </a:r>
            <a:r>
              <a:rPr lang="en-US" dirty="0" smtClean="0"/>
              <a:t>Fold</a:t>
            </a:r>
            <a:r>
              <a:rPr lang="en-US" dirty="0"/>
              <a:t>([1,2,3],0,(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acc+x</a:t>
            </a:r>
            <a:r>
              <a:rPr lang="en-US" dirty="0"/>
              <a:t>) </a:t>
            </a:r>
            <a:r>
              <a:rPr lang="en-US" dirty="0" err="1"/>
              <a:t>връща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617642" cy="2733260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A</a:t>
            </a:r>
            <a:r>
              <a:rPr dirty="0"/>
              <a:t>) 3</a:t>
            </a:r>
          </a:p>
          <a:p>
            <a:pPr marL="0" indent="0">
              <a:buNone/>
            </a:pPr>
            <a:r>
              <a:rPr dirty="0"/>
              <a:t>B) 6</a:t>
            </a:r>
          </a:p>
          <a:p>
            <a:pPr marL="0" indent="0">
              <a:buNone/>
            </a:pPr>
            <a:r>
              <a:rPr dirty="0"/>
              <a:t>C) 5</a:t>
            </a:r>
          </a:p>
          <a:p>
            <a:pPr marL="0" indent="0">
              <a:buNone/>
            </a:pPr>
            <a:r>
              <a:rPr dirty="0"/>
              <a:t>D)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4772" y="4818002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967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 smtClean="0"/>
              <a:t>15. </a:t>
            </a:r>
            <a:r>
              <a:rPr lang="en-US" dirty="0" smtClean="0"/>
              <a:t>Fold</a:t>
            </a:r>
            <a:r>
              <a:rPr lang="en-US" dirty="0"/>
              <a:t>([1,2,3],0,(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acc+x</a:t>
            </a:r>
            <a:r>
              <a:rPr lang="en-US" dirty="0"/>
              <a:t>) </a:t>
            </a:r>
            <a:r>
              <a:rPr lang="en-US" dirty="0" err="1"/>
              <a:t>връща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617642" cy="2733260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A</a:t>
            </a:r>
            <a:r>
              <a:rPr dirty="0"/>
              <a:t>) 3</a:t>
            </a:r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B) 6</a:t>
            </a:r>
          </a:p>
          <a:p>
            <a:pPr marL="0" indent="0">
              <a:buNone/>
            </a:pPr>
            <a:r>
              <a:rPr dirty="0"/>
              <a:t>C) 5</a:t>
            </a:r>
          </a:p>
          <a:p>
            <a:pPr marL="0" indent="0">
              <a:buNone/>
            </a:pPr>
            <a:r>
              <a:rPr dirty="0"/>
              <a:t>D)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4772" y="4818002"/>
            <a:ext cx="3214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1+2+3 = 6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08642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16. </a:t>
            </a:r>
            <a:r>
              <a:rPr lang="en-US" dirty="0" smtClean="0"/>
              <a:t>Fold</a:t>
            </a:r>
            <a:r>
              <a:rPr lang="en-US" dirty="0"/>
              <a:t>([1,2,3],1,(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</a:t>
            </a:r>
            <a:r>
              <a:rPr lang="en-US" dirty="0"/>
              <a:t>*x) </a:t>
            </a:r>
            <a:r>
              <a:rPr lang="en-US" dirty="0" err="1"/>
              <a:t>връща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A</a:t>
            </a:r>
            <a:r>
              <a:rPr dirty="0"/>
              <a:t>) 6</a:t>
            </a:r>
          </a:p>
          <a:p>
            <a:pPr marL="0" indent="0">
              <a:buNone/>
            </a:pPr>
            <a:r>
              <a:rPr dirty="0"/>
              <a:t>B) 5</a:t>
            </a:r>
          </a:p>
          <a:p>
            <a:pPr marL="0" indent="0">
              <a:buNone/>
            </a:pPr>
            <a:r>
              <a:rPr dirty="0"/>
              <a:t>C) 3</a:t>
            </a:r>
          </a:p>
          <a:p>
            <a:pPr marL="0" indent="0">
              <a:buNone/>
            </a:pPr>
            <a:r>
              <a:rPr dirty="0"/>
              <a:t>D)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4772" y="4818002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8543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16. </a:t>
            </a:r>
            <a:r>
              <a:rPr lang="en-US" dirty="0" smtClean="0"/>
              <a:t>Fold</a:t>
            </a:r>
            <a:r>
              <a:rPr lang="en-US" dirty="0"/>
              <a:t>([1,2,3],1,(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</a:t>
            </a:r>
            <a:r>
              <a:rPr lang="en-US" dirty="0"/>
              <a:t>*x) </a:t>
            </a:r>
            <a:r>
              <a:rPr lang="en-US" dirty="0" err="1"/>
              <a:t>връща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>
                <a:solidFill>
                  <a:srgbClr val="FF0000"/>
                </a:solidFill>
              </a:rPr>
              <a:t>A</a:t>
            </a:r>
            <a:r>
              <a:rPr dirty="0">
                <a:solidFill>
                  <a:srgbClr val="FF0000"/>
                </a:solidFill>
              </a:rPr>
              <a:t>) 6</a:t>
            </a:r>
          </a:p>
          <a:p>
            <a:pPr marL="0" indent="0">
              <a:buNone/>
            </a:pPr>
            <a:r>
              <a:rPr dirty="0"/>
              <a:t>B) 5</a:t>
            </a:r>
          </a:p>
          <a:p>
            <a:pPr marL="0" indent="0">
              <a:buNone/>
            </a:pPr>
            <a:r>
              <a:rPr dirty="0"/>
              <a:t>C) 3</a:t>
            </a:r>
          </a:p>
          <a:p>
            <a:pPr marL="0" indent="0">
              <a:buNone/>
            </a:pPr>
            <a:r>
              <a:rPr dirty="0"/>
              <a:t>D) </a:t>
            </a:r>
            <a:r>
              <a:rPr dirty="0" smtClean="0"/>
              <a:t>1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en-US" dirty="0"/>
              <a:t>1*1*2*3 = 6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940702" y="4714635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2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6938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857" y="274638"/>
            <a:ext cx="11842143" cy="1538260"/>
          </a:xfrm>
        </p:spPr>
        <p:txBody>
          <a:bodyPr>
            <a:normAutofit/>
          </a:bodyPr>
          <a:lstStyle/>
          <a:p>
            <a:pPr algn="l"/>
            <a:r>
              <a:rPr lang="bg-BG" sz="4000" dirty="0" smtClean="0"/>
              <a:t>17. </a:t>
            </a:r>
            <a:r>
              <a:rPr lang="en-US" sz="4000" dirty="0" smtClean="0"/>
              <a:t>Fold(</a:t>
            </a:r>
            <a:r>
              <a:rPr lang="en-US" sz="4000" dirty="0" err="1" smtClean="0"/>
              <a:t>nums,true</a:t>
            </a:r>
            <a:r>
              <a:rPr lang="en-US" sz="4000" dirty="0"/>
              <a:t>,(</a:t>
            </a:r>
            <a:r>
              <a:rPr lang="en-US" sz="4000" dirty="0" err="1"/>
              <a:t>acc,x</a:t>
            </a:r>
            <a:r>
              <a:rPr lang="en-US" sz="4000" dirty="0"/>
              <a:t>)=&gt;</a:t>
            </a:r>
            <a:r>
              <a:rPr lang="en-US" sz="4000" dirty="0" err="1"/>
              <a:t>acc</a:t>
            </a:r>
            <a:r>
              <a:rPr lang="en-US" sz="4000" dirty="0"/>
              <a:t> &amp;&amp; x&gt;0) </a:t>
            </a:r>
            <a:r>
              <a:rPr lang="en-US" sz="4000" dirty="0" err="1"/>
              <a:t>проверява</a:t>
            </a:r>
            <a:r>
              <a:rPr lang="en-US" sz="4000" dirty="0" smtClean="0"/>
              <a:t>: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769" y="2117037"/>
            <a:ext cx="10972800" cy="2677600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A) </a:t>
            </a:r>
            <a:r>
              <a:rPr dirty="0" err="1"/>
              <a:t>всички</a:t>
            </a:r>
            <a:r>
              <a:rPr dirty="0"/>
              <a:t> </a:t>
            </a:r>
            <a:r>
              <a:rPr dirty="0" err="1"/>
              <a:t>са</a:t>
            </a:r>
            <a:r>
              <a:rPr dirty="0"/>
              <a:t> </a:t>
            </a:r>
            <a:r>
              <a:rPr dirty="0" err="1"/>
              <a:t>положителни</a:t>
            </a:r>
            <a:endParaRPr dirty="0"/>
          </a:p>
          <a:p>
            <a:pPr marL="0" indent="0">
              <a:buNone/>
            </a:pPr>
            <a:r>
              <a:rPr dirty="0"/>
              <a:t>B) </a:t>
            </a:r>
            <a:r>
              <a:rPr dirty="0" err="1"/>
              <a:t>има</a:t>
            </a:r>
            <a:r>
              <a:rPr dirty="0"/>
              <a:t> </a:t>
            </a:r>
            <a:r>
              <a:rPr dirty="0" err="1"/>
              <a:t>отрицателни</a:t>
            </a:r>
            <a:endParaRPr dirty="0"/>
          </a:p>
          <a:p>
            <a:pPr marL="0" indent="0">
              <a:buNone/>
            </a:pPr>
            <a:r>
              <a:rPr dirty="0"/>
              <a:t>C) </a:t>
            </a:r>
            <a:r>
              <a:rPr dirty="0" err="1"/>
              <a:t>максимум</a:t>
            </a:r>
            <a:endParaRPr dirty="0"/>
          </a:p>
          <a:p>
            <a:pPr marL="0" indent="0">
              <a:buNone/>
            </a:pPr>
            <a:r>
              <a:rPr dirty="0"/>
              <a:t>D) </a:t>
            </a:r>
            <a:r>
              <a:rPr dirty="0" err="1"/>
              <a:t>минимум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833112" y="4637111"/>
            <a:ext cx="129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 smtClean="0"/>
              <a:t>Точки: 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3164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857" y="274638"/>
            <a:ext cx="11842143" cy="1538260"/>
          </a:xfrm>
        </p:spPr>
        <p:txBody>
          <a:bodyPr>
            <a:normAutofit/>
          </a:bodyPr>
          <a:lstStyle/>
          <a:p>
            <a:pPr algn="l"/>
            <a:r>
              <a:rPr lang="bg-BG" sz="4000" dirty="0" smtClean="0"/>
              <a:t>17. </a:t>
            </a:r>
            <a:r>
              <a:rPr lang="en-US" sz="4000" dirty="0" smtClean="0"/>
              <a:t>Fold(</a:t>
            </a:r>
            <a:r>
              <a:rPr lang="en-US" sz="4000" dirty="0" err="1" smtClean="0"/>
              <a:t>nums,true</a:t>
            </a:r>
            <a:r>
              <a:rPr lang="en-US" sz="4000" dirty="0"/>
              <a:t>,(</a:t>
            </a:r>
            <a:r>
              <a:rPr lang="en-US" sz="4000" dirty="0" err="1"/>
              <a:t>acc,x</a:t>
            </a:r>
            <a:r>
              <a:rPr lang="en-US" sz="4000" dirty="0"/>
              <a:t>)=&gt;</a:t>
            </a:r>
            <a:r>
              <a:rPr lang="en-US" sz="4000" dirty="0" err="1"/>
              <a:t>acc</a:t>
            </a:r>
            <a:r>
              <a:rPr lang="en-US" sz="4000" dirty="0"/>
              <a:t> &amp;&amp; x&gt;0) </a:t>
            </a:r>
            <a:r>
              <a:rPr lang="en-US" sz="4000" dirty="0" err="1"/>
              <a:t>проверява</a:t>
            </a:r>
            <a:r>
              <a:rPr lang="en-US" sz="4000" dirty="0" smtClean="0"/>
              <a:t>: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768" y="2117037"/>
            <a:ext cx="11102671" cy="4069078"/>
          </a:xfrm>
        </p:spPr>
        <p:txBody>
          <a:bodyPr/>
          <a:lstStyle/>
          <a:p>
            <a:pPr marL="0" indent="0">
              <a:buNone/>
            </a:pPr>
            <a:r>
              <a:rPr dirty="0" smtClean="0">
                <a:solidFill>
                  <a:srgbClr val="FF0000"/>
                </a:solidFill>
              </a:rPr>
              <a:t>A) </a:t>
            </a:r>
            <a:r>
              <a:rPr dirty="0" err="1">
                <a:solidFill>
                  <a:srgbClr val="FF0000"/>
                </a:solidFill>
              </a:rPr>
              <a:t>всички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са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положителни</a:t>
            </a:r>
            <a:endParaRPr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/>
              <a:t>B) </a:t>
            </a:r>
            <a:r>
              <a:rPr dirty="0" err="1"/>
              <a:t>има</a:t>
            </a:r>
            <a:r>
              <a:rPr dirty="0"/>
              <a:t> </a:t>
            </a:r>
            <a:r>
              <a:rPr dirty="0" err="1"/>
              <a:t>отрицателни</a:t>
            </a:r>
            <a:endParaRPr dirty="0"/>
          </a:p>
          <a:p>
            <a:pPr marL="0" indent="0">
              <a:buNone/>
            </a:pPr>
            <a:r>
              <a:rPr dirty="0"/>
              <a:t>C) </a:t>
            </a:r>
            <a:r>
              <a:rPr dirty="0" err="1"/>
              <a:t>максимум</a:t>
            </a:r>
            <a:endParaRPr dirty="0"/>
          </a:p>
          <a:p>
            <a:pPr marL="0" indent="0">
              <a:buNone/>
            </a:pPr>
            <a:r>
              <a:rPr dirty="0"/>
              <a:t>D) </a:t>
            </a:r>
            <a:r>
              <a:rPr dirty="0" err="1" smtClean="0"/>
              <a:t>минимум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ru-RU" dirty="0"/>
              <a:t>Акумулаторът става false ако има отрицателно число.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1108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18. </a:t>
            </a:r>
            <a:r>
              <a:rPr lang="en-US" dirty="0" smtClean="0"/>
              <a:t>Fold</a:t>
            </a:r>
            <a:r>
              <a:rPr lang="en-US" dirty="0"/>
              <a:t>([1,2,3],"",(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acc+x.ToString</a:t>
            </a:r>
            <a:r>
              <a:rPr lang="en-US" dirty="0"/>
              <a:t>()) </a:t>
            </a:r>
            <a:r>
              <a:rPr lang="bg-BG" dirty="0"/>
              <a:t>връща: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2820724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A</a:t>
            </a:r>
            <a:r>
              <a:rPr dirty="0"/>
              <a:t>) "123"</a:t>
            </a:r>
          </a:p>
          <a:p>
            <a:pPr marL="0" indent="0">
              <a:buNone/>
            </a:pPr>
            <a:r>
              <a:rPr dirty="0"/>
              <a:t>B) "6"</a:t>
            </a:r>
          </a:p>
          <a:p>
            <a:pPr marL="0" indent="0">
              <a:buNone/>
            </a:pPr>
            <a:r>
              <a:rPr dirty="0"/>
              <a:t>C) "321"</a:t>
            </a:r>
          </a:p>
          <a:p>
            <a:pPr marL="0" indent="0">
              <a:buNone/>
            </a:pPr>
            <a:r>
              <a:rPr dirty="0"/>
              <a:t>D) "3"</a:t>
            </a:r>
          </a:p>
        </p:txBody>
      </p:sp>
    </p:spTree>
    <p:extLst>
      <p:ext uri="{BB962C8B-B14F-4D97-AF65-F5344CB8AC3E}">
        <p14:creationId xmlns:p14="http://schemas.microsoft.com/office/powerpoint/2010/main" val="1644158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18. </a:t>
            </a:r>
            <a:r>
              <a:rPr lang="en-US" dirty="0" smtClean="0"/>
              <a:t>Fold</a:t>
            </a:r>
            <a:r>
              <a:rPr lang="en-US" dirty="0"/>
              <a:t>([1,2,3],"",(</a:t>
            </a:r>
            <a:r>
              <a:rPr lang="en-US" dirty="0" err="1"/>
              <a:t>acc,x</a:t>
            </a:r>
            <a:r>
              <a:rPr lang="en-US" dirty="0"/>
              <a:t>)=&gt;</a:t>
            </a:r>
            <a:r>
              <a:rPr lang="en-US" dirty="0" err="1"/>
              <a:t>acc+x.ToString</a:t>
            </a:r>
            <a:r>
              <a:rPr lang="en-US" dirty="0"/>
              <a:t>()) </a:t>
            </a:r>
            <a:r>
              <a:rPr lang="bg-BG" dirty="0"/>
              <a:t>връща: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490497"/>
          </a:xfrm>
        </p:spPr>
        <p:txBody>
          <a:bodyPr/>
          <a:lstStyle/>
          <a:p>
            <a:pPr marL="0" indent="0">
              <a:buNone/>
            </a:pPr>
            <a:r>
              <a:rPr dirty="0" smtClean="0">
                <a:solidFill>
                  <a:srgbClr val="FF0000"/>
                </a:solidFill>
              </a:rPr>
              <a:t>A</a:t>
            </a:r>
            <a:r>
              <a:rPr dirty="0">
                <a:solidFill>
                  <a:srgbClr val="FF0000"/>
                </a:solidFill>
              </a:rPr>
              <a:t>) "123"</a:t>
            </a:r>
          </a:p>
          <a:p>
            <a:pPr marL="0" indent="0">
              <a:buNone/>
            </a:pPr>
            <a:r>
              <a:rPr dirty="0"/>
              <a:t>B) "6"</a:t>
            </a:r>
          </a:p>
          <a:p>
            <a:pPr marL="0" indent="0">
              <a:buNone/>
            </a:pPr>
            <a:r>
              <a:rPr dirty="0"/>
              <a:t>C) "321"</a:t>
            </a:r>
          </a:p>
          <a:p>
            <a:pPr marL="0" indent="0">
              <a:buNone/>
            </a:pPr>
            <a:r>
              <a:rPr dirty="0"/>
              <a:t>D) "3</a:t>
            </a:r>
            <a:r>
              <a:rPr dirty="0" smtClean="0"/>
              <a:t>"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ru-RU" dirty="0"/>
              <a:t>Числата се конкатенират като текст.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8281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19</a:t>
            </a:r>
            <a:r>
              <a:rPr lang="bg-BG" dirty="0"/>
              <a:t>. Какво ще </a:t>
            </a:r>
            <a:r>
              <a:rPr lang="bg-BG" dirty="0" smtClean="0"/>
              <a:t>върне: </a:t>
            </a:r>
            <a:r>
              <a:rPr lang="en-US" dirty="0" smtClean="0"/>
              <a:t>Map</a:t>
            </a:r>
            <a:r>
              <a:rPr lang="en-US" dirty="0"/>
              <a:t>([2,4,6], x =&gt; x/2)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902101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smtClean="0"/>
              <a:t>{</a:t>
            </a:r>
            <a:r>
              <a:rPr lang="en-US" dirty="0"/>
              <a:t>0,1,2} 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{2,4,6}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{3,6,9}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{</a:t>
            </a:r>
            <a:r>
              <a:rPr lang="en-US" dirty="0"/>
              <a:t>1,2,3}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185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19</a:t>
            </a:r>
            <a:r>
              <a:rPr lang="bg-BG" dirty="0"/>
              <a:t>. Какво ще </a:t>
            </a:r>
            <a:r>
              <a:rPr lang="bg-BG" dirty="0" smtClean="0"/>
              <a:t>върне: </a:t>
            </a:r>
            <a:r>
              <a:rPr lang="en-US" dirty="0" smtClean="0"/>
              <a:t>Map</a:t>
            </a:r>
            <a:r>
              <a:rPr lang="en-US" dirty="0"/>
              <a:t>([2,4,6], x =&gt; x/2)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902101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smtClean="0"/>
              <a:t>{</a:t>
            </a:r>
            <a:r>
              <a:rPr lang="en-US" dirty="0"/>
              <a:t>0,1,2} 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{2,4,6}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{3,6,9}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>
                <a:solidFill>
                  <a:srgbClr val="FF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1,2,3}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534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20. </a:t>
            </a:r>
            <a:r>
              <a:rPr lang="ru-RU" dirty="0"/>
              <a:t>Кое може да се реализира чрез Fold?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Map</a:t>
            </a:r>
            <a:br>
              <a:rPr lang="en-US" dirty="0"/>
            </a:br>
            <a:r>
              <a:rPr lang="en-US" dirty="0"/>
              <a:t>B) Filter</a:t>
            </a:r>
            <a:br>
              <a:rPr lang="en-US" dirty="0"/>
            </a:br>
            <a:r>
              <a:rPr lang="en-US" dirty="0"/>
              <a:t>C) Sum</a:t>
            </a:r>
            <a:br>
              <a:rPr lang="en-US" dirty="0"/>
            </a:br>
            <a:r>
              <a:rPr lang="en-US" dirty="0"/>
              <a:t>D) </a:t>
            </a:r>
            <a:r>
              <a:rPr lang="bg-BG" dirty="0"/>
              <a:t>Всички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868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dirty="0" smtClean="0"/>
              <a:t>20. </a:t>
            </a:r>
            <a:r>
              <a:rPr lang="ru-RU" dirty="0"/>
              <a:t>Кое може да се реализира чрез Fold?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Map</a:t>
            </a:r>
            <a:br>
              <a:rPr lang="en-US" dirty="0"/>
            </a:br>
            <a:r>
              <a:rPr lang="en-US" dirty="0"/>
              <a:t>B) Filter</a:t>
            </a:r>
            <a:br>
              <a:rPr lang="en-US" dirty="0"/>
            </a:br>
            <a:r>
              <a:rPr lang="en-US" dirty="0"/>
              <a:t>C) Sum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D) </a:t>
            </a:r>
            <a:r>
              <a:rPr lang="bg-BG" dirty="0">
                <a:solidFill>
                  <a:srgbClr val="FF0000"/>
                </a:solidFill>
              </a:rPr>
              <a:t>Всички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891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dirty="0" smtClean="0"/>
              <a:t>21. </a:t>
            </a:r>
            <a:r>
              <a:rPr lang="ru-RU" dirty="0"/>
              <a:t>Какъв е резултатът?</a:t>
            </a:r>
            <a:br>
              <a:rPr lang="ru-RU" dirty="0"/>
            </a:br>
            <a:r>
              <a:rPr lang="en-US" dirty="0"/>
              <a:t>Map([1,2,3], x =&gt; </a:t>
            </a:r>
            <a:r>
              <a:rPr lang="en-US" dirty="0" err="1"/>
              <a:t>x.ToString</a:t>
            </a:r>
            <a:r>
              <a:rPr lang="en-US" dirty="0"/>
              <a:t>())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3272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{1,2,3}</a:t>
            </a:r>
          </a:p>
          <a:p>
            <a:pPr marL="0" indent="0">
              <a:buNone/>
            </a:pPr>
            <a:r>
              <a:rPr lang="en-US" dirty="0"/>
              <a:t>B) {"1","2","3"}</a:t>
            </a:r>
          </a:p>
          <a:p>
            <a:pPr marL="0" indent="0">
              <a:buNone/>
            </a:pPr>
            <a:r>
              <a:rPr lang="en-US" dirty="0"/>
              <a:t>C) {3,2,1}</a:t>
            </a:r>
          </a:p>
          <a:p>
            <a:pPr marL="0" indent="0">
              <a:buNone/>
            </a:pPr>
            <a:r>
              <a:rPr lang="en-US" dirty="0"/>
              <a:t>D) {"123"}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45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dirty="0" smtClean="0"/>
              <a:t>21. </a:t>
            </a:r>
            <a:r>
              <a:rPr lang="ru-RU" dirty="0"/>
              <a:t>Какъв е резултатът?</a:t>
            </a:r>
            <a:br>
              <a:rPr lang="ru-RU" dirty="0"/>
            </a:br>
            <a:r>
              <a:rPr lang="en-US" dirty="0"/>
              <a:t>Map([1,2,3], x =&gt; </a:t>
            </a:r>
            <a:r>
              <a:rPr lang="en-US" dirty="0" err="1"/>
              <a:t>x.ToString</a:t>
            </a:r>
            <a:r>
              <a:rPr lang="en-US" dirty="0"/>
              <a:t>())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3272"/>
            <a:ext cx="10972800" cy="39021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A) {1,2,3}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{"1","2","3"}</a:t>
            </a:r>
          </a:p>
          <a:p>
            <a:pPr marL="0" indent="0">
              <a:buNone/>
            </a:pPr>
            <a:r>
              <a:rPr lang="en-US" dirty="0"/>
              <a:t>C) {3,2,1}</a:t>
            </a:r>
          </a:p>
          <a:p>
            <a:pPr marL="0" indent="0">
              <a:buNone/>
            </a:pPr>
            <a:r>
              <a:rPr lang="en-US" dirty="0" smtClean="0"/>
              <a:t>D) </a:t>
            </a:r>
            <a:r>
              <a:rPr lang="en-US" dirty="0"/>
              <a:t>{"</a:t>
            </a:r>
            <a:r>
              <a:rPr lang="en-US" dirty="0" smtClean="0"/>
              <a:t>123“}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ru-RU" dirty="0"/>
              <a:t>Map прилага функцията върху всеки елемент поотделно и връща нов списък със същия брой елементи.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927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22. </a:t>
            </a:r>
            <a:r>
              <a:rPr lang="ru-RU" dirty="0"/>
              <a:t>Какво ще върне:</a:t>
            </a:r>
            <a:br>
              <a:rPr lang="ru-RU" dirty="0"/>
            </a:br>
            <a:r>
              <a:rPr lang="en-US" dirty="0"/>
              <a:t>Filter([1,2,3,4], x=&gt;x&lt;3</a:t>
            </a:r>
            <a:r>
              <a:rPr lang="en-US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A) {1,2}</a:t>
            </a:r>
          </a:p>
          <a:p>
            <a:pPr marL="0" indent="0">
              <a:buNone/>
            </a:pPr>
            <a:r>
              <a:rPr lang="en-US" dirty="0"/>
              <a:t>B) {3,4}</a:t>
            </a:r>
          </a:p>
          <a:p>
            <a:pPr marL="0" indent="0">
              <a:buNone/>
            </a:pPr>
            <a:r>
              <a:rPr lang="en-US" dirty="0"/>
              <a:t>C) {2,4}</a:t>
            </a:r>
          </a:p>
          <a:p>
            <a:pPr marL="0" indent="0">
              <a:buNone/>
            </a:pPr>
            <a:r>
              <a:rPr lang="en-US" dirty="0"/>
              <a:t>D) {1,3}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672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22. </a:t>
            </a:r>
            <a:r>
              <a:rPr lang="ru-RU" dirty="0"/>
              <a:t>Какво ще върне:</a:t>
            </a:r>
            <a:br>
              <a:rPr lang="ru-RU" dirty="0"/>
            </a:br>
            <a:r>
              <a:rPr lang="en-US" dirty="0"/>
              <a:t>Filter([1,2,3,4], x=&gt;x&lt;3</a:t>
            </a:r>
            <a:r>
              <a:rPr lang="en-US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10972800" cy="39021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{1,2}</a:t>
            </a:r>
          </a:p>
          <a:p>
            <a:pPr marL="0" indent="0">
              <a:buNone/>
            </a:pPr>
            <a:r>
              <a:rPr lang="en-US" dirty="0"/>
              <a:t>B) {3,4}</a:t>
            </a:r>
          </a:p>
          <a:p>
            <a:pPr marL="0" indent="0">
              <a:buNone/>
            </a:pPr>
            <a:r>
              <a:rPr lang="en-US" dirty="0"/>
              <a:t>C) {2,4}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smtClean="0"/>
              <a:t>{1,3}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ru-RU" dirty="0"/>
              <a:t>Filter оставя само елементите, за които </a:t>
            </a:r>
            <a:r>
              <a:rPr lang="ru-RU" dirty="0" smtClean="0"/>
              <a:t>условието х&lt;3 </a:t>
            </a:r>
            <a:r>
              <a:rPr lang="ru-RU" dirty="0"/>
              <a:t>е вярно.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88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23. </a:t>
            </a:r>
            <a:r>
              <a:rPr lang="ru-RU" dirty="0"/>
              <a:t>Какво ще върне:</a:t>
            </a:r>
            <a:br>
              <a:rPr lang="ru-RU" dirty="0"/>
            </a:br>
            <a:r>
              <a:rPr lang="en-US" dirty="0"/>
              <a:t>Fold([1,2,3],0,(</a:t>
            </a:r>
            <a:r>
              <a:rPr lang="en-US" dirty="0" err="1"/>
              <a:t>acc,x</a:t>
            </a:r>
            <a:r>
              <a:rPr lang="en-US" dirty="0"/>
              <a:t>)=&gt;x)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A) 1</a:t>
            </a:r>
          </a:p>
          <a:p>
            <a:pPr marL="0" indent="0">
              <a:buNone/>
            </a:pPr>
            <a:r>
              <a:rPr lang="pt-BR" dirty="0"/>
              <a:t>B) 2</a:t>
            </a:r>
          </a:p>
          <a:p>
            <a:pPr marL="0" indent="0">
              <a:buNone/>
            </a:pPr>
            <a:r>
              <a:rPr lang="pt-BR" dirty="0"/>
              <a:t>C) 3</a:t>
            </a:r>
          </a:p>
          <a:p>
            <a:pPr marL="0" indent="0">
              <a:buNone/>
            </a:pPr>
            <a:r>
              <a:rPr lang="pt-BR" dirty="0"/>
              <a:t>D) 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7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23. </a:t>
            </a:r>
            <a:r>
              <a:rPr lang="ru-RU" dirty="0"/>
              <a:t>Какво ще върне:</a:t>
            </a:r>
            <a:br>
              <a:rPr lang="ru-RU" dirty="0"/>
            </a:br>
            <a:r>
              <a:rPr lang="en-US" dirty="0"/>
              <a:t>Fold([1,2,3],0,(</a:t>
            </a:r>
            <a:r>
              <a:rPr lang="en-US" dirty="0" err="1"/>
              <a:t>acc,x</a:t>
            </a:r>
            <a:r>
              <a:rPr lang="en-US" dirty="0"/>
              <a:t>)=&gt;x)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4016188" cy="390210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A) 1</a:t>
            </a:r>
          </a:p>
          <a:p>
            <a:pPr marL="0" indent="0">
              <a:buNone/>
            </a:pPr>
            <a:r>
              <a:rPr lang="pt-BR" dirty="0"/>
              <a:t>B) 2</a:t>
            </a: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C) 3</a:t>
            </a:r>
          </a:p>
          <a:p>
            <a:pPr marL="0" indent="0">
              <a:buNone/>
            </a:pPr>
            <a:r>
              <a:rPr lang="pt-BR" dirty="0"/>
              <a:t>D) 6</a:t>
            </a:r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74341" y="2326343"/>
            <a:ext cx="5334000" cy="39021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Стъпки</a:t>
            </a:r>
            <a:r>
              <a:rPr lang="ru-RU" dirty="0" smtClean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начало: acc = </a:t>
            </a:r>
            <a:r>
              <a:rPr lang="ru-RU" dirty="0" smtClean="0"/>
              <a:t>0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x = 1 -&gt; нов acc = </a:t>
            </a:r>
            <a:r>
              <a:rPr lang="ru-RU" dirty="0" smtClean="0"/>
              <a:t>1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x = 2 -&gt; нов acc = </a:t>
            </a:r>
            <a:r>
              <a:rPr lang="ru-RU" dirty="0" smtClean="0"/>
              <a:t>2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x = 3 -&gt; нов acc = 3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Крайният резултат е 3.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436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24. </a:t>
            </a:r>
            <a:r>
              <a:rPr lang="ru-RU" dirty="0"/>
              <a:t>Какъв е резултатът?</a:t>
            </a:r>
            <a:br>
              <a:rPr lang="ru-RU" dirty="0"/>
            </a:br>
            <a:r>
              <a:rPr lang="en-US" dirty="0"/>
              <a:t>Map(Filter([1,2,3,4],x=&gt;x%2==0), x=&gt;x*3)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10972800" cy="390210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A) </a:t>
            </a:r>
            <a:r>
              <a:rPr lang="pt-BR" dirty="0" smtClean="0"/>
              <a:t>{12</a:t>
            </a: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B) {3,6,9,12}</a:t>
            </a:r>
          </a:p>
          <a:p>
            <a:pPr marL="0" indent="0">
              <a:buNone/>
            </a:pPr>
            <a:r>
              <a:rPr lang="pt-BR" dirty="0"/>
              <a:t>C) {2,4}</a:t>
            </a:r>
          </a:p>
          <a:p>
            <a:pPr marL="0" indent="0">
              <a:buNone/>
            </a:pPr>
            <a:r>
              <a:rPr lang="pt-BR" dirty="0"/>
              <a:t>D) {6,12}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158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688634"/>
          </a:xfrm>
        </p:spPr>
        <p:txBody>
          <a:bodyPr>
            <a:normAutofit/>
          </a:bodyPr>
          <a:lstStyle/>
          <a:p>
            <a:pPr algn="l"/>
            <a:r>
              <a:rPr lang="bg-BG" dirty="0" smtClean="0"/>
              <a:t>24. </a:t>
            </a:r>
            <a:r>
              <a:rPr lang="ru-RU" dirty="0"/>
              <a:t>Какъв е резултатът?</a:t>
            </a:r>
            <a:br>
              <a:rPr lang="ru-RU" dirty="0"/>
            </a:br>
            <a:r>
              <a:rPr lang="en-US" dirty="0"/>
              <a:t>Map(Filter([1,2,3,4],x=&gt;x%2==0), x=&gt;x*3)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6343"/>
            <a:ext cx="10972800" cy="39021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A) </a:t>
            </a:r>
            <a:r>
              <a:rPr lang="pt-BR" dirty="0" smtClean="0"/>
              <a:t>{12</a:t>
            </a: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B) {3,6,9,12}</a:t>
            </a:r>
          </a:p>
          <a:p>
            <a:pPr marL="0" indent="0">
              <a:buNone/>
            </a:pPr>
            <a:r>
              <a:rPr lang="pt-BR" dirty="0"/>
              <a:t>C) {2,4}</a:t>
            </a: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D) {6,12</a:t>
            </a:r>
            <a:r>
              <a:rPr lang="pt-BR" dirty="0" smtClean="0">
                <a:solidFill>
                  <a:srgbClr val="FF0000"/>
                </a:solidFill>
              </a:rPr>
              <a:t>}</a:t>
            </a:r>
            <a:endParaRPr lang="bg-B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bg-BG" dirty="0"/>
              <a:t>След филтъра получаваме: {2,4</a:t>
            </a:r>
            <a:r>
              <a:rPr lang="bg-BG" dirty="0" smtClean="0"/>
              <a:t>}</a:t>
            </a:r>
            <a:endParaRPr lang="bg-BG" dirty="0"/>
          </a:p>
          <a:p>
            <a:pPr marL="0" indent="0">
              <a:buNone/>
            </a:pPr>
            <a:r>
              <a:rPr lang="en-US" dirty="0" smtClean="0"/>
              <a:t>Map </a:t>
            </a:r>
            <a:r>
              <a:rPr lang="bg-BG" dirty="0" smtClean="0"/>
              <a:t>у</a:t>
            </a:r>
            <a:r>
              <a:rPr lang="ru-RU" dirty="0" smtClean="0"/>
              <a:t>множаваме </a:t>
            </a:r>
            <a:r>
              <a:rPr lang="ru-RU" dirty="0"/>
              <a:t>всеки елемент по 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178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564" y="609601"/>
            <a:ext cx="316005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{4,3,2,1}</a:t>
            </a:r>
          </a:p>
          <a:p>
            <a:pPr marL="0" indent="0">
              <a:buNone/>
            </a:pPr>
            <a:r>
              <a:rPr lang="en-US" dirty="0"/>
              <a:t>B) {1,2,3,4}</a:t>
            </a:r>
          </a:p>
          <a:p>
            <a:pPr marL="0" indent="0">
              <a:buNone/>
            </a:pPr>
            <a:r>
              <a:rPr lang="en-US" dirty="0"/>
              <a:t>C) {0,1,2,3}</a:t>
            </a:r>
          </a:p>
          <a:p>
            <a:pPr marL="0" indent="0">
              <a:buNone/>
            </a:pPr>
            <a:r>
              <a:rPr lang="en-US" dirty="0"/>
              <a:t>D) {4}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636" y="609601"/>
            <a:ext cx="75258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b="1" dirty="0" smtClean="0"/>
              <a:t>25. </a:t>
            </a:r>
            <a:r>
              <a:rPr lang="bg-BG" sz="3500" b="1" dirty="0" smtClean="0"/>
              <a:t>Какво ще върне функцията при </a:t>
            </a:r>
            <a:r>
              <a:rPr lang="en-US" sz="3500" b="1" dirty="0" smtClean="0"/>
              <a:t>F(4)</a:t>
            </a:r>
            <a:r>
              <a:rPr lang="bg-BG" sz="3500" b="1" dirty="0" smtClean="0"/>
              <a:t>?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static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 F(</a:t>
            </a:r>
            <a:r>
              <a:rPr lang="en-US" sz="3500" dirty="0" err="1" smtClean="0"/>
              <a:t>int</a:t>
            </a:r>
            <a:r>
              <a:rPr lang="en-US" sz="3500" dirty="0" smtClean="0"/>
              <a:t> n)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{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if(n == 0) return 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&gt;();</a:t>
            </a:r>
          </a:p>
          <a:p>
            <a:pPr marL="0" indent="0">
              <a:buFont typeface="Arial"/>
              <a:buNone/>
            </a:pPr>
            <a:endParaRPr lang="en-US" sz="3500" dirty="0" smtClean="0"/>
          </a:p>
          <a:p>
            <a:pPr marL="0" indent="0">
              <a:buFont typeface="Arial"/>
              <a:buNone/>
            </a:pPr>
            <a:r>
              <a:rPr lang="en-US" sz="3500" dirty="0" smtClean="0"/>
              <a:t>    return F(n-1)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Concat</a:t>
            </a:r>
            <a:r>
              <a:rPr lang="en-US" sz="3500" dirty="0" smtClean="0"/>
              <a:t>(new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&gt;{n})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ToList</a:t>
            </a:r>
            <a:r>
              <a:rPr lang="en-US" sz="3500" dirty="0" smtClean="0"/>
              <a:t>();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}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366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7894" y="609601"/>
            <a:ext cx="3751728" cy="5925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{4,3,2,1}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{1,2,3,4}</a:t>
            </a:r>
          </a:p>
          <a:p>
            <a:pPr marL="0" indent="0">
              <a:buNone/>
            </a:pPr>
            <a:r>
              <a:rPr lang="en-US" dirty="0"/>
              <a:t>C) {0,1,2,3}</a:t>
            </a:r>
          </a:p>
          <a:p>
            <a:pPr marL="0" indent="0">
              <a:buNone/>
            </a:pPr>
            <a:r>
              <a:rPr lang="en-US" dirty="0"/>
              <a:t>D) {4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bg-BG" dirty="0"/>
              <a:t>Стъпки</a:t>
            </a:r>
            <a:r>
              <a:rPr lang="bg-BG" dirty="0" smtClean="0"/>
              <a:t>: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F(1) → {1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F(2) → {1,2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F(3) → {1,2,3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F(4) → {1,2,3,4}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636" y="609601"/>
            <a:ext cx="75258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b="1" dirty="0" smtClean="0"/>
              <a:t>25. </a:t>
            </a:r>
            <a:r>
              <a:rPr lang="bg-BG" sz="3500" b="1" dirty="0" smtClean="0"/>
              <a:t>Какво ще върне функцията при </a:t>
            </a:r>
            <a:r>
              <a:rPr lang="en-US" sz="3500" b="1" dirty="0" smtClean="0"/>
              <a:t>F(4)</a:t>
            </a:r>
            <a:r>
              <a:rPr lang="bg-BG" sz="3500" b="1" dirty="0" smtClean="0"/>
              <a:t>?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static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 F(</a:t>
            </a:r>
            <a:r>
              <a:rPr lang="en-US" sz="3500" dirty="0" err="1" smtClean="0"/>
              <a:t>int</a:t>
            </a:r>
            <a:r>
              <a:rPr lang="en-US" sz="3500" dirty="0" smtClean="0"/>
              <a:t> n)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{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if(n == 0) return 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&gt;();</a:t>
            </a:r>
          </a:p>
          <a:p>
            <a:pPr marL="0" indent="0">
              <a:buFont typeface="Arial"/>
              <a:buNone/>
            </a:pPr>
            <a:endParaRPr lang="en-US" sz="3500" dirty="0" smtClean="0"/>
          </a:p>
          <a:p>
            <a:pPr marL="0" indent="0">
              <a:buFont typeface="Arial"/>
              <a:buNone/>
            </a:pPr>
            <a:r>
              <a:rPr lang="en-US" sz="3500" dirty="0" smtClean="0"/>
              <a:t>    return F(n-1)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Concat</a:t>
            </a:r>
            <a:r>
              <a:rPr lang="en-US" sz="3500" dirty="0" smtClean="0"/>
              <a:t>(new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&gt;{n})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ToList</a:t>
            </a:r>
            <a:r>
              <a:rPr lang="en-US" sz="3500" dirty="0" smtClean="0"/>
              <a:t>();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}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496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7894" y="609601"/>
            <a:ext cx="3751728" cy="5925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{4,3,2,1}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{1,2,3,4}</a:t>
            </a:r>
          </a:p>
          <a:p>
            <a:pPr marL="0" indent="0">
              <a:buNone/>
            </a:pPr>
            <a:r>
              <a:rPr lang="en-US" dirty="0"/>
              <a:t>C) {0,1,2,3}</a:t>
            </a:r>
          </a:p>
          <a:p>
            <a:pPr marL="0" indent="0">
              <a:buNone/>
            </a:pPr>
            <a:r>
              <a:rPr lang="en-US" dirty="0"/>
              <a:t>D) {4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bg-BG" dirty="0"/>
              <a:t>Стъпки</a:t>
            </a:r>
            <a:r>
              <a:rPr lang="bg-BG" dirty="0" smtClean="0"/>
              <a:t>: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F(1) → {1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F(2) → {1,2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F(3) → {1,2,3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F(4) → {1,2,3,4}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636" y="609601"/>
            <a:ext cx="75258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b="1" dirty="0" smtClean="0"/>
              <a:t>25. </a:t>
            </a:r>
            <a:r>
              <a:rPr lang="bg-BG" sz="3500" b="1" dirty="0" smtClean="0"/>
              <a:t>Какво ще върне функцията при </a:t>
            </a:r>
            <a:r>
              <a:rPr lang="en-US" sz="3500" b="1" dirty="0" smtClean="0"/>
              <a:t>F(4)</a:t>
            </a:r>
            <a:r>
              <a:rPr lang="bg-BG" sz="3500" b="1" dirty="0" smtClean="0"/>
              <a:t>?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static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 F(</a:t>
            </a:r>
            <a:r>
              <a:rPr lang="en-US" sz="3500" dirty="0" err="1" smtClean="0"/>
              <a:t>int</a:t>
            </a:r>
            <a:r>
              <a:rPr lang="en-US" sz="3500" dirty="0" smtClean="0"/>
              <a:t> n)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{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if(n == 0) return 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&gt;();</a:t>
            </a:r>
          </a:p>
          <a:p>
            <a:pPr marL="0" indent="0">
              <a:buFont typeface="Arial"/>
              <a:buNone/>
            </a:pPr>
            <a:endParaRPr lang="en-US" sz="3500" dirty="0" smtClean="0"/>
          </a:p>
          <a:p>
            <a:pPr marL="0" indent="0">
              <a:buFont typeface="Arial"/>
              <a:buNone/>
            </a:pPr>
            <a:r>
              <a:rPr lang="en-US" sz="3500" dirty="0" smtClean="0"/>
              <a:t>    return F(n-1)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Concat</a:t>
            </a:r>
            <a:r>
              <a:rPr lang="en-US" sz="3500" dirty="0" smtClean="0"/>
              <a:t>(new List&lt;</a:t>
            </a:r>
            <a:r>
              <a:rPr lang="en-US" sz="3500" dirty="0" err="1" smtClean="0"/>
              <a:t>int</a:t>
            </a:r>
            <a:r>
              <a:rPr lang="en-US" sz="3500" dirty="0" smtClean="0"/>
              <a:t>&gt;{n})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        .</a:t>
            </a:r>
            <a:r>
              <a:rPr lang="en-US" sz="3500" dirty="0" err="1" smtClean="0"/>
              <a:t>ToList</a:t>
            </a:r>
            <a:r>
              <a:rPr lang="en-US" sz="3500" dirty="0" smtClean="0"/>
              <a:t>();</a:t>
            </a:r>
          </a:p>
          <a:p>
            <a:pPr marL="0" indent="0">
              <a:buFont typeface="Arial"/>
              <a:buNone/>
            </a:pPr>
            <a:r>
              <a:rPr lang="en-US" sz="3500" dirty="0" smtClean="0"/>
              <a:t>}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191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564" y="609601"/>
            <a:ext cx="316005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A) {5,5,5}</a:t>
            </a:r>
          </a:p>
          <a:p>
            <a:pPr marL="0" indent="0">
              <a:buNone/>
            </a:pPr>
            <a:r>
              <a:rPr lang="en-US" dirty="0"/>
              <a:t>B) {3,2,1}</a:t>
            </a:r>
          </a:p>
          <a:p>
            <a:pPr marL="0" indent="0">
              <a:buNone/>
            </a:pPr>
            <a:r>
              <a:rPr lang="en-US" dirty="0"/>
              <a:t>C) {1,2,3}</a:t>
            </a:r>
          </a:p>
          <a:p>
            <a:pPr marL="0" indent="0">
              <a:buNone/>
            </a:pPr>
            <a:r>
              <a:rPr lang="en-US" dirty="0"/>
              <a:t>D) {5,3,2,1}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636" y="609601"/>
            <a:ext cx="75258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00" b="1" dirty="0" smtClean="0"/>
              <a:t>26. </a:t>
            </a:r>
            <a:r>
              <a:rPr lang="bg-BG" sz="3500" b="1" dirty="0" smtClean="0"/>
              <a:t>Какъв </a:t>
            </a:r>
            <a:r>
              <a:rPr lang="bg-BG" sz="3500" b="1" dirty="0"/>
              <a:t>е резултатът от </a:t>
            </a:r>
            <a:r>
              <a:rPr lang="en-US" sz="3500" b="1" dirty="0"/>
              <a:t>F(3)?</a:t>
            </a:r>
            <a:endParaRPr lang="en-US" sz="3600" dirty="0"/>
          </a:p>
          <a:p>
            <a:pPr marL="0" indent="0">
              <a:buNone/>
            </a:pPr>
            <a:r>
              <a:rPr lang="en-US" sz="3500" dirty="0" smtClean="0"/>
              <a:t>static </a:t>
            </a:r>
            <a:r>
              <a:rPr lang="en-US" sz="3500" dirty="0"/>
              <a:t>List&lt;</a:t>
            </a:r>
            <a:r>
              <a:rPr lang="en-US" sz="3500" dirty="0" err="1"/>
              <a:t>int</a:t>
            </a:r>
            <a:r>
              <a:rPr lang="en-US" sz="3500" dirty="0"/>
              <a:t>&gt; F(</a:t>
            </a:r>
            <a:r>
              <a:rPr lang="en-US" sz="3500" dirty="0" err="1"/>
              <a:t>int</a:t>
            </a:r>
            <a:r>
              <a:rPr lang="en-US" sz="3500" dirty="0"/>
              <a:t> n)</a:t>
            </a:r>
          </a:p>
          <a:p>
            <a:pPr marL="0" indent="0">
              <a:buNone/>
            </a:pPr>
            <a:r>
              <a:rPr lang="en-US" sz="3500" dirty="0"/>
              <a:t>{</a:t>
            </a:r>
          </a:p>
          <a:p>
            <a:pPr marL="0" indent="0">
              <a:buNone/>
            </a:pPr>
            <a:r>
              <a:rPr lang="en-US" sz="3500" dirty="0"/>
              <a:t>    if(n == 0) return new List&lt;</a:t>
            </a:r>
            <a:r>
              <a:rPr lang="en-US" sz="3500" dirty="0" err="1"/>
              <a:t>int</a:t>
            </a:r>
            <a:r>
              <a:rPr lang="en-US" sz="3500" dirty="0"/>
              <a:t>&gt;();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    return new List&lt;</a:t>
            </a:r>
            <a:r>
              <a:rPr lang="en-US" sz="3500" dirty="0" err="1"/>
              <a:t>int</a:t>
            </a:r>
            <a:r>
              <a:rPr lang="en-US" sz="3500" dirty="0"/>
              <a:t>&gt;{5}</a:t>
            </a:r>
          </a:p>
          <a:p>
            <a:pPr marL="0" indent="0">
              <a:buNone/>
            </a:pPr>
            <a:r>
              <a:rPr lang="en-US" sz="3500" dirty="0"/>
              <a:t>        .</a:t>
            </a:r>
            <a:r>
              <a:rPr lang="en-US" sz="3500" dirty="0" err="1"/>
              <a:t>Concat</a:t>
            </a:r>
            <a:r>
              <a:rPr lang="en-US" sz="3500" dirty="0"/>
              <a:t>(F(n-1))</a:t>
            </a:r>
          </a:p>
          <a:p>
            <a:pPr marL="0" indent="0">
              <a:buNone/>
            </a:pPr>
            <a:r>
              <a:rPr lang="en-US" sz="3500" dirty="0"/>
              <a:t>        .</a:t>
            </a:r>
            <a:r>
              <a:rPr lang="en-US" sz="3500" dirty="0" err="1"/>
              <a:t>ToList</a:t>
            </a:r>
            <a:r>
              <a:rPr lang="en-US" sz="3500" dirty="0"/>
              <a:t>();</a:t>
            </a:r>
          </a:p>
          <a:p>
            <a:pPr marL="0" indent="0">
              <a:buNone/>
            </a:pPr>
            <a:r>
              <a:rPr lang="en-US" sz="3500" dirty="0" smtClean="0"/>
              <a:t>}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005776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564" y="609601"/>
            <a:ext cx="3160058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{5,5,5}</a:t>
            </a:r>
          </a:p>
          <a:p>
            <a:pPr marL="0" indent="0">
              <a:buNone/>
            </a:pPr>
            <a:r>
              <a:rPr lang="en-US" dirty="0"/>
              <a:t>B) {3,2,1}</a:t>
            </a:r>
          </a:p>
          <a:p>
            <a:pPr marL="0" indent="0">
              <a:buNone/>
            </a:pPr>
            <a:r>
              <a:rPr lang="en-US" dirty="0"/>
              <a:t>C) {1,2,3}</a:t>
            </a:r>
          </a:p>
          <a:p>
            <a:pPr marL="0" indent="0">
              <a:buNone/>
            </a:pPr>
            <a:r>
              <a:rPr lang="en-US" dirty="0"/>
              <a:t>D) {5,3,2,1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bg-BG" dirty="0"/>
              <a:t>Стъпки</a:t>
            </a:r>
            <a:r>
              <a:rPr lang="bg-BG" dirty="0" smtClean="0"/>
              <a:t>: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F(1) → {5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F(2) → {5,5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F(3) → {5,5,5}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636" y="609601"/>
            <a:ext cx="75258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00" b="1" dirty="0" smtClean="0"/>
              <a:t>26. </a:t>
            </a:r>
            <a:r>
              <a:rPr lang="bg-BG" sz="3500" b="1" dirty="0" smtClean="0"/>
              <a:t>Какъв </a:t>
            </a:r>
            <a:r>
              <a:rPr lang="bg-BG" sz="3500" b="1" dirty="0"/>
              <a:t>е резултатът от </a:t>
            </a:r>
            <a:r>
              <a:rPr lang="en-US" sz="3500" b="1" dirty="0"/>
              <a:t>F(3)?</a:t>
            </a:r>
            <a:endParaRPr lang="en-US" sz="3600" dirty="0"/>
          </a:p>
          <a:p>
            <a:pPr marL="0" indent="0">
              <a:buNone/>
            </a:pPr>
            <a:r>
              <a:rPr lang="en-US" sz="3500" dirty="0" smtClean="0"/>
              <a:t>static </a:t>
            </a:r>
            <a:r>
              <a:rPr lang="en-US" sz="3500" dirty="0"/>
              <a:t>List&lt;</a:t>
            </a:r>
            <a:r>
              <a:rPr lang="en-US" sz="3500" dirty="0" err="1"/>
              <a:t>int</a:t>
            </a:r>
            <a:r>
              <a:rPr lang="en-US" sz="3500" dirty="0"/>
              <a:t>&gt; F(</a:t>
            </a:r>
            <a:r>
              <a:rPr lang="en-US" sz="3500" dirty="0" err="1"/>
              <a:t>int</a:t>
            </a:r>
            <a:r>
              <a:rPr lang="en-US" sz="3500" dirty="0"/>
              <a:t> n)</a:t>
            </a:r>
          </a:p>
          <a:p>
            <a:pPr marL="0" indent="0">
              <a:buNone/>
            </a:pPr>
            <a:r>
              <a:rPr lang="en-US" sz="3500" dirty="0"/>
              <a:t>{</a:t>
            </a:r>
          </a:p>
          <a:p>
            <a:pPr marL="0" indent="0">
              <a:buNone/>
            </a:pPr>
            <a:r>
              <a:rPr lang="en-US" sz="3500" dirty="0"/>
              <a:t>    if(n == 0) return new List&lt;</a:t>
            </a:r>
            <a:r>
              <a:rPr lang="en-US" sz="3500" dirty="0" err="1"/>
              <a:t>int</a:t>
            </a:r>
            <a:r>
              <a:rPr lang="en-US" sz="3500" dirty="0"/>
              <a:t>&gt;();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    return new List&lt;</a:t>
            </a:r>
            <a:r>
              <a:rPr lang="en-US" sz="3500" dirty="0" err="1"/>
              <a:t>int</a:t>
            </a:r>
            <a:r>
              <a:rPr lang="en-US" sz="3500" dirty="0"/>
              <a:t>&gt;{5}</a:t>
            </a:r>
          </a:p>
          <a:p>
            <a:pPr marL="0" indent="0">
              <a:buNone/>
            </a:pPr>
            <a:r>
              <a:rPr lang="en-US" sz="3500" dirty="0"/>
              <a:t>        .</a:t>
            </a:r>
            <a:r>
              <a:rPr lang="en-US" sz="3500" dirty="0" err="1"/>
              <a:t>Concat</a:t>
            </a:r>
            <a:r>
              <a:rPr lang="en-US" sz="3500" dirty="0"/>
              <a:t>(F(n-1))</a:t>
            </a:r>
          </a:p>
          <a:p>
            <a:pPr marL="0" indent="0">
              <a:buNone/>
            </a:pPr>
            <a:r>
              <a:rPr lang="en-US" sz="3500" dirty="0"/>
              <a:t>        .</a:t>
            </a:r>
            <a:r>
              <a:rPr lang="en-US" sz="3500" dirty="0" err="1"/>
              <a:t>ToList</a:t>
            </a:r>
            <a:r>
              <a:rPr lang="en-US" sz="3500" dirty="0"/>
              <a:t>();</a:t>
            </a:r>
          </a:p>
          <a:p>
            <a:pPr marL="0" indent="0">
              <a:buNone/>
            </a:pPr>
            <a:r>
              <a:rPr lang="en-US" sz="3500" dirty="0" smtClean="0"/>
              <a:t>}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51016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1832</Words>
  <Application>Microsoft Office PowerPoint</Application>
  <PresentationFormat>Widescreen</PresentationFormat>
  <Paragraphs>356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Office Theme</vt:lpstr>
      <vt:lpstr>1_Office Theme</vt:lpstr>
      <vt:lpstr>ТЕСТ 3</vt:lpstr>
      <vt:lpstr>1.  Какво е задължително условие за всяка рекурсивна функция?</vt:lpstr>
      <vt:lpstr>1.  Какво е задължително условие за всяка рекурсивна функция?</vt:lpstr>
      <vt:lpstr>2. Какво прави функцията F?  static int F(List&lt;int&gt; xs, int acc = 0)  {   if(xs.Count == 0) return acc;   return F(xs.Skip(1).ToList(), acc + 1);  }</vt:lpstr>
      <vt:lpstr>2. Какво прави функцията F?  static int F(List&lt;int&gt; xs, int acc)  {   if(xs.Count == 0) return acc;   return F(xs.Skip(1).ToList(), acc + 1);  }</vt:lpstr>
      <vt:lpstr>3. Какво е вярно за функцията Map?</vt:lpstr>
      <vt:lpstr>3. Какво е вярно за функцията Map?</vt:lpstr>
      <vt:lpstr>4.  Коя характеристика описва опашковата рекурсия?</vt:lpstr>
      <vt:lpstr>4.  Коя характеристика описва опашковата рекурсия?</vt:lpstr>
      <vt:lpstr>5. Какъв е резултатът от функцията:  static int F (List&lt;int&gt; list)  {        if(list.Count == 0) return 0;        return list[0] + F (list.Skip(1).ToList());  } за списък {1,2,3}?</vt:lpstr>
      <vt:lpstr>5. Какъв е резултатът от функцията:  static int F (List&lt;int&gt; list)  {        if(list.Count == 0) return 0;        return list[0] + F (list.Skip(1).ToList());  } за списък {1,2,3}?</vt:lpstr>
      <vt:lpstr>6. Какво прави Filter?</vt:lpstr>
      <vt:lpstr>6. Какво прави Filter?</vt:lpstr>
      <vt:lpstr>7. Кое е вярно за Map?</vt:lpstr>
      <vt:lpstr>7. Кое е вярно за Map?</vt:lpstr>
      <vt:lpstr>8. Какво прави:    Filter(words, w =&gt; w.Length &gt; 3)</vt:lpstr>
      <vt:lpstr>8. Какво прави:    Filter(words, w =&gt; w.Length &gt; 3)</vt:lpstr>
      <vt:lpstr>9. Кое е вярно за Filter?</vt:lpstr>
      <vt:lpstr>9. Кое е вярно за Filter?</vt:lpstr>
      <vt:lpstr>10. Какво връща Fold?</vt:lpstr>
      <vt:lpstr>10. Какво връща Fold?</vt:lpstr>
      <vt:lpstr>11. Какъв е резултатът:   Map(["a","bb","ccc"], x =&gt; x.Length)</vt:lpstr>
      <vt:lpstr>11. Какъв е резултатът:   Map(["a","bb","ccc"], x =&gt; x.Length)</vt:lpstr>
      <vt:lpstr>12. Какъв тип функция използва Filter?</vt:lpstr>
      <vt:lpstr>12. Какъв тип функция използва Filter?</vt:lpstr>
      <vt:lpstr>13. Filter([1,2,3,4], x=&gt;x%2==0) връща:</vt:lpstr>
      <vt:lpstr>13. Filter([1,2,3,4], x=&gt;x%2==0) връща:</vt:lpstr>
      <vt:lpstr>14. Какъв е типът на Map?</vt:lpstr>
      <vt:lpstr>14. Какъв е типът на Map?</vt:lpstr>
      <vt:lpstr>15. Fold([1,2,3],0,(acc,x)=&gt;acc+x) връща:</vt:lpstr>
      <vt:lpstr>15. Fold([1,2,3],0,(acc,x)=&gt;acc+x) връща:</vt:lpstr>
      <vt:lpstr>16. Fold([1,2,3],1,(acc,x)=&gt;acc*x) връща:</vt:lpstr>
      <vt:lpstr>16. Fold([1,2,3],1,(acc,x)=&gt;acc*x) връща:</vt:lpstr>
      <vt:lpstr>17. Fold(nums,true,(acc,x)=&gt;acc &amp;&amp; x&gt;0) проверява:</vt:lpstr>
      <vt:lpstr>17. Fold(nums,true,(acc,x)=&gt;acc &amp;&amp; x&gt;0) проверява:</vt:lpstr>
      <vt:lpstr>18. Fold([1,2,3],"",(acc,x)=&gt;acc+x.ToString()) връща:</vt:lpstr>
      <vt:lpstr>18. Fold([1,2,3],"",(acc,x)=&gt;acc+x.ToString()) връща:</vt:lpstr>
      <vt:lpstr>19. Какво ще върне: Map([2,4,6], x =&gt; x/2)</vt:lpstr>
      <vt:lpstr>19. Какво ще върне: Map([2,4,6], x =&gt; x/2)</vt:lpstr>
      <vt:lpstr>20. Кое може да се реализира чрез Fold?</vt:lpstr>
      <vt:lpstr>20. Кое може да се реализира чрез Fold?</vt:lpstr>
      <vt:lpstr>21. Какъв е резултатът? Map([1,2,3], x =&gt; x.ToString())</vt:lpstr>
      <vt:lpstr>21. Какъв е резултатът? Map([1,2,3], x =&gt; x.ToString())</vt:lpstr>
      <vt:lpstr>22. Какво ще върне: Filter([1,2,3,4], x=&gt;x&lt;3)</vt:lpstr>
      <vt:lpstr>22. Какво ще върне: Filter([1,2,3,4], x=&gt;x&lt;3)</vt:lpstr>
      <vt:lpstr>23. Какво ще върне: Fold([1,2,3],0,(acc,x)=&gt;x)</vt:lpstr>
      <vt:lpstr>23. Какво ще върне: Fold([1,2,3],0,(acc,x)=&gt;x)</vt:lpstr>
      <vt:lpstr>24. Какъв е резултатът? Map(Filter([1,2,3,4],x=&gt;x%2==0), x=&gt;x*3)</vt:lpstr>
      <vt:lpstr>24. Какъв е резултатът? Map(Filter([1,2,3,4],x=&gt;x%2==0), x=&gt;x*3)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 3</dc:title>
  <dc:creator>DesKo</dc:creator>
  <cp:lastModifiedBy>DesKo</cp:lastModifiedBy>
  <cp:revision>35</cp:revision>
  <dcterms:created xsi:type="dcterms:W3CDTF">2026-03-09T18:03:36Z</dcterms:created>
  <dcterms:modified xsi:type="dcterms:W3CDTF">2026-03-10T04:41:05Z</dcterms:modified>
</cp:coreProperties>
</file>